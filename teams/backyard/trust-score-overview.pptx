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Reply</c:v>
                  </c:pt>
                  <c:pt idx="1">
                    <c:v>Mutual follow</c:v>
                  </c:pt>
                  <c:pt idx="2">
                    <c:v>Quote</c:v>
                  </c:pt>
                  <c:pt idx="3">
                    <c:v>Mention</c:v>
                  </c:pt>
                  <c:pt idx="4">
                    <c:v>One-way follow</c:v>
                  </c:pt>
                  <c:pt idx="5">
                    <c:v>Shared URL</c:v>
                  </c:pt>
                  <c:pt idx="6">
                    <c:v>Shared hashtag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0.92</c:v>
                </c:pt>
                <c:pt idx="1">
                  <c:v>0.88</c:v>
                </c:pt>
                <c:pt idx="2">
                  <c:v>0.78</c:v>
                </c:pt>
                <c:pt idx="3">
                  <c:v>0.64</c:v>
                </c:pt>
                <c:pt idx="4">
                  <c:v>0.61</c:v>
                </c:pt>
                <c:pt idx="5">
                  <c:v>0.24</c:v>
                </c:pt>
                <c:pt idx="6">
                  <c:v>0.12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A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 score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0.5466666666666667</c:v>
                </c:pt>
                <c:pt idx="2">
                  <c:v>0.7</c:v>
                </c:pt>
                <c:pt idx="3">
                  <c:v>0.7965</c:v>
                </c:pt>
                <c:pt idx="4">
                  <c:v>0.858</c:v>
                </c:pt>
                <c:pt idx="5">
                  <c:v>0.91</c:v>
                </c:pt>
                <c:pt idx="6">
                  <c:v>0.9371818181818181</c:v>
                </c:pt>
                <c:pt idx="7">
                  <c:v>0.9575714285714285</c:v>
                </c:pt>
                <c:pt idx="8">
                  <c:v>0.9708571428571429</c:v>
                </c:pt>
                <c:pt idx="9">
                  <c:v>0.9846363636363636</c:v>
                </c:pt>
                <c:pt idx="10">
                  <c:v>0.9910596026490066</c:v>
                </c:pt>
                <c:pt idx="11">
                  <c:v>0.9913576158940397</c:v>
                </c:pt>
                <c:pt idx="12">
                  <c:v>0.9916556291390728</c:v>
                </c:pt>
                <c:pt idx="13">
                  <c:v>0.991953642384106</c:v>
                </c:pt>
                <c:pt idx="14">
                  <c:v>0.9922516556291391</c:v>
                </c:pt>
                <c:pt idx="15">
                  <c:v>0.9925496688741722</c:v>
                </c:pt>
                <c:pt idx="16">
                  <c:v>0.9928476821192053</c:v>
                </c:pt>
                <c:pt idx="17">
                  <c:v>0.9931456953642384</c:v>
                </c:pt>
                <c:pt idx="18">
                  <c:v>0.9934437086092716</c:v>
                </c:pt>
                <c:pt idx="19">
                  <c:v>0.9937417218543046</c:v>
                </c:pt>
                <c:pt idx="20">
                  <c:v>0.9940397350993377</c:v>
                </c:pt>
                <c:pt idx="21">
                  <c:v>0.9943377483443708</c:v>
                </c:pt>
                <c:pt idx="22">
                  <c:v>0.9946357615894039</c:v>
                </c:pt>
                <c:pt idx="23">
                  <c:v>0.9949337748344371</c:v>
                </c:pt>
                <c:pt idx="24">
                  <c:v>0.9952317880794702</c:v>
                </c:pt>
                <c:pt idx="25">
                  <c:v>0.9955298013245033</c:v>
                </c:pt>
                <c:pt idx="26">
                  <c:v>0.9958278145695364</c:v>
                </c:pt>
                <c:pt idx="27">
                  <c:v>0.9961258278145695</c:v>
                </c:pt>
                <c:pt idx="28">
                  <c:v>0.9964238410596027</c:v>
                </c:pt>
                <c:pt idx="29">
                  <c:v>0.9967218543046358</c:v>
                </c:pt>
                <c:pt idx="30">
                  <c:v>0.9970198675496689</c:v>
                </c:pt>
                <c:pt idx="31">
                  <c:v>0.997317880794702</c:v>
                </c:pt>
                <c:pt idx="32">
                  <c:v>0.997615894039735</c:v>
                </c:pt>
                <c:pt idx="33">
                  <c:v>0.9979139072847683</c:v>
                </c:pt>
                <c:pt idx="34">
                  <c:v>0.9982119205298013</c:v>
                </c:pt>
                <c:pt idx="35">
                  <c:v>0.9985099337748344</c:v>
                </c:pt>
                <c:pt idx="36">
                  <c:v>0.9988079470198675</c:v>
                </c:pt>
                <c:pt idx="37">
                  <c:v>0.9991059602649006</c:v>
                </c:pt>
                <c:pt idx="38">
                  <c:v>0.9994039735099338</c:v>
                </c:pt>
                <c:pt idx="39">
                  <c:v>0.9997019867549669</c:v>
                </c:pt>
                <c:pt idx="40">
                  <c:v>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0.5255000000000001</c:v>
                </c:pt>
                <c:pt idx="2">
                  <c:v>0.6930000000000001</c:v>
                </c:pt>
                <c:pt idx="3">
                  <c:v>0.7802</c:v>
                </c:pt>
                <c:pt idx="4">
                  <c:v>0.852</c:v>
                </c:pt>
                <c:pt idx="5">
                  <c:v>0.906875</c:v>
                </c:pt>
                <c:pt idx="6">
                  <c:v>0.941</c:v>
                </c:pt>
                <c:pt idx="7">
                  <c:v>0.957625</c:v>
                </c:pt>
                <c:pt idx="8">
                  <c:v>0.9712857142857143</c:v>
                </c:pt>
                <c:pt idx="9">
                  <c:v>0.9830625</c:v>
                </c:pt>
                <c:pt idx="10">
                  <c:v>0.9899642857142857</c:v>
                </c:pt>
                <c:pt idx="11">
                  <c:v>0.9939821428571428</c:v>
                </c:pt>
                <c:pt idx="12">
                  <c:v>0.998</c:v>
                </c:pt>
                <c:pt idx="13">
                  <c:v>0.9981082251082251</c:v>
                </c:pt>
                <c:pt idx="14">
                  <c:v>0.9982164502164502</c:v>
                </c:pt>
                <c:pt idx="15">
                  <c:v>0.9983246753246753</c:v>
                </c:pt>
                <c:pt idx="16">
                  <c:v>0.9984329004329004</c:v>
                </c:pt>
                <c:pt idx="17">
                  <c:v>0.9985411255411255</c:v>
                </c:pt>
                <c:pt idx="18">
                  <c:v>0.9986493506493507</c:v>
                </c:pt>
                <c:pt idx="19">
                  <c:v>0.9987575757575757</c:v>
                </c:pt>
                <c:pt idx="20">
                  <c:v>0.9988658008658009</c:v>
                </c:pt>
                <c:pt idx="21">
                  <c:v>0.998974025974026</c:v>
                </c:pt>
                <c:pt idx="22">
                  <c:v>0.9990822510822511</c:v>
                </c:pt>
                <c:pt idx="23">
                  <c:v>0.9991904761904762</c:v>
                </c:pt>
                <c:pt idx="24">
                  <c:v>0.9992987012987014</c:v>
                </c:pt>
                <c:pt idx="25">
                  <c:v>0.9994069264069264</c:v>
                </c:pt>
                <c:pt idx="26">
                  <c:v>0.9995151515151515</c:v>
                </c:pt>
                <c:pt idx="27">
                  <c:v>0.9996233766233766</c:v>
                </c:pt>
                <c:pt idx="28">
                  <c:v>0.9997316017316017</c:v>
                </c:pt>
                <c:pt idx="29">
                  <c:v>0.9998398268398269</c:v>
                </c:pt>
                <c:pt idx="30">
                  <c:v>0.9999480519480519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Propagation only</c:v>
                </c:pt>
              </c:strCache>
            </c:strRef>
          </c:tx>
          <c:spPr>
            <a:solidFill>
              <a:srgbClr val="9AA5AB"/>
            </a:solidFill>
            <a:ln w="31750" cap="flat">
              <a:solidFill>
                <a:srgbClr val="9AA5AB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9AA5AB"/>
              </a:solidFill>
              <a:ln w="9525" cap="flat">
                <a:solidFill>
                  <a:srgbClr val="9AA5AB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Sheet1!$D$2:$D$42</c:f>
              <c:numCache>
                <c:formatCode>General</c:formatCode>
                <c:ptCount val="41"/>
                <c:pt idx="0">
                  <c:v>0</c:v>
                </c:pt>
                <c:pt idx="1">
                  <c:v>0.19336363636363638</c:v>
                </c:pt>
                <c:pt idx="2">
                  <c:v>0.274</c:v>
                </c:pt>
                <c:pt idx="3">
                  <c:v>0.3085</c:v>
                </c:pt>
                <c:pt idx="4">
                  <c:v>0.3355</c:v>
                </c:pt>
                <c:pt idx="5">
                  <c:v>0.34675</c:v>
                </c:pt>
                <c:pt idx="6">
                  <c:v>0.3587560975609756</c:v>
                </c:pt>
                <c:pt idx="7">
                  <c:v>0.3706842105263158</c:v>
                </c:pt>
                <c:pt idx="8">
                  <c:v>0.3812105263157895</c:v>
                </c:pt>
                <c:pt idx="9">
                  <c:v>0.3922</c:v>
                </c:pt>
                <c:pt idx="10">
                  <c:v>0.4034390243902439</c:v>
                </c:pt>
                <c:pt idx="11">
                  <c:v>0.4144146341463415</c:v>
                </c:pt>
                <c:pt idx="12">
                  <c:v>0.4265555555555555</c:v>
                </c:pt>
                <c:pt idx="13">
                  <c:v>0.44044444444444447</c:v>
                </c:pt>
                <c:pt idx="14">
                  <c:v>0.4562</c:v>
                </c:pt>
                <c:pt idx="15">
                  <c:v>0.4728928571428571</c:v>
                </c:pt>
                <c:pt idx="16">
                  <c:v>0.4888823529411765</c:v>
                </c:pt>
                <c:pt idx="17">
                  <c:v>0.5055000000000001</c:v>
                </c:pt>
                <c:pt idx="18">
                  <c:v>0.5252</c:v>
                </c:pt>
                <c:pt idx="19">
                  <c:v>0.5453600000000001</c:v>
                </c:pt>
                <c:pt idx="20">
                  <c:v>0.5663103448275861</c:v>
                </c:pt>
                <c:pt idx="21">
                  <c:v>0.587</c:v>
                </c:pt>
                <c:pt idx="22">
                  <c:v>0.6118333333333333</c:v>
                </c:pt>
                <c:pt idx="23">
                  <c:v>0.6381111111111111</c:v>
                </c:pt>
                <c:pt idx="24">
                  <c:v>0.662</c:v>
                </c:pt>
                <c:pt idx="25">
                  <c:v>0.6935882352941176</c:v>
                </c:pt>
                <c:pt idx="26">
                  <c:v>0.72</c:v>
                </c:pt>
                <c:pt idx="27">
                  <c:v>0.7441428571428571</c:v>
                </c:pt>
                <c:pt idx="28">
                  <c:v>0.7706363636363637</c:v>
                </c:pt>
                <c:pt idx="29">
                  <c:v>0.7993809523809524</c:v>
                </c:pt>
                <c:pt idx="30">
                  <c:v>0.8291</c:v>
                </c:pt>
                <c:pt idx="31">
                  <c:v>0.855</c:v>
                </c:pt>
                <c:pt idx="32">
                  <c:v>0.88</c:v>
                </c:pt>
                <c:pt idx="33">
                  <c:v>0.8978571428571429</c:v>
                </c:pt>
                <c:pt idx="34">
                  <c:v>0.9146666666666667</c:v>
                </c:pt>
                <c:pt idx="35">
                  <c:v>0.9369999999999999</c:v>
                </c:pt>
                <c:pt idx="36">
                  <c:v>0.9500571428571428</c:v>
                </c:pt>
                <c:pt idx="37">
                  <c:v>0.9614545454545455</c:v>
                </c:pt>
                <c:pt idx="38">
                  <c:v>0.9728181818181818</c:v>
                </c:pt>
                <c:pt idx="39">
                  <c:v>0.9860465116279069</c:v>
                </c:pt>
                <c:pt idx="40">
                  <c:v>1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Chance</c:v>
                </c:pt>
              </c:strCache>
            </c:strRef>
          </c:tx>
          <c:spPr>
            <a:solidFill>
              <a:srgbClr val="C8D1D5"/>
            </a:solidFill>
            <a:ln w="31750" cap="flat">
              <a:solidFill>
                <a:srgbClr val="C8D1D5"/>
              </a:solidFill>
              <a:prstDash val="solid"/>
              <a:round/>
            </a:ln>
            <a:effectLst/>
          </c:spPr>
          <c:marker>
            <c:symbol val="none"/>
            <c:size val="6"/>
            <c:spPr>
              <a:solidFill>
                <a:srgbClr val="C8D1D5"/>
              </a:solidFill>
              <a:ln w="9525" cap="flat">
                <a:solidFill>
                  <a:srgbClr val="C8D1D5"/>
                </a:solidFill>
                <a:prstDash val="solid"/>
                <a:round/>
              </a:ln>
              <a:effectLst/>
            </c:spPr>
          </c:marker>
          <c:xVal>
            <c:numRef>
              <c:f>Sheet1!$A$2:$A$42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Sheet1!$E$2:$E$42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false positive rate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6EC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true positive rate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 score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0.877</c:v>
                </c:pt>
                <c:pt idx="1">
                  <c:v>0.906</c:v>
                </c:pt>
                <c:pt idx="2">
                  <c:v>0.924</c:v>
                </c:pt>
                <c:pt idx="3">
                  <c:v>0.94</c:v>
                </c:pt>
                <c:pt idx="4">
                  <c:v>0.945</c:v>
                </c:pt>
                <c:pt idx="5">
                  <c:v>0.951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0.885</c:v>
                </c:pt>
                <c:pt idx="1">
                  <c:v>0.907</c:v>
                </c:pt>
                <c:pt idx="2">
                  <c:v>0.924</c:v>
                </c:pt>
                <c:pt idx="3">
                  <c:v>0.939</c:v>
                </c:pt>
                <c:pt idx="4">
                  <c:v>0.944</c:v>
                </c:pt>
                <c:pt idx="5">
                  <c:v>0.95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Graph conv.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0.791</c:v>
                </c:pt>
                <c:pt idx="1">
                  <c:v>0.809</c:v>
                </c:pt>
                <c:pt idx="2">
                  <c:v>0.828</c:v>
                </c:pt>
                <c:pt idx="3">
                  <c:v>0.839</c:v>
                </c:pt>
                <c:pt idx="4">
                  <c:v>0.85</c:v>
                </c:pt>
                <c:pt idx="5">
                  <c:v>0.858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TrustRank</c:v>
                </c:pt>
              </c:strCache>
            </c:strRef>
          </c:tx>
          <c:spPr>
            <a:solidFill>
              <a:srgbClr val="9AA5AB"/>
            </a:solidFill>
            <a:ln w="31750" cap="flat">
              <a:solidFill>
                <a:srgbClr val="9AA5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AB"/>
              </a:solidFill>
              <a:ln w="9525" cap="flat">
                <a:solidFill>
                  <a:srgbClr val="9AA5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0.746</c:v>
                </c:pt>
                <c:pt idx="1">
                  <c:v>0.742</c:v>
                </c:pt>
                <c:pt idx="2">
                  <c:v>0.751</c:v>
                </c:pt>
                <c:pt idx="3">
                  <c:v>0.749</c:v>
                </c:pt>
                <c:pt idx="4">
                  <c:v>0.722</c:v>
                </c:pt>
                <c:pt idx="5">
                  <c:v>0.737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Propagation only</c:v>
                </c:pt>
              </c:strCache>
            </c:strRef>
          </c:tx>
          <c:spPr>
            <a:solidFill>
              <a:srgbClr val="C8D1D5"/>
            </a:solidFill>
            <a:ln w="31750" cap="flat">
              <a:solidFill>
                <a:srgbClr val="C8D1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D1D5"/>
              </a:solidFill>
              <a:ln w="9525" cap="flat">
                <a:solidFill>
                  <a:srgbClr val="C8D1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1%</c:v>
                  </c:pt>
                  <c:pt idx="1">
                    <c:v>2%</c:v>
                  </c:pt>
                  <c:pt idx="2">
                    <c:v>5%</c:v>
                  </c:pt>
                  <c:pt idx="3">
                    <c:v>10%</c:v>
                  </c:pt>
                  <c:pt idx="4">
                    <c:v>20%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0.674</c:v>
                </c:pt>
                <c:pt idx="1">
                  <c:v>0.617</c:v>
                </c:pt>
                <c:pt idx="2">
                  <c:v>0.685</c:v>
                </c:pt>
                <c:pt idx="3">
                  <c:v>0.675</c:v>
                </c:pt>
                <c:pt idx="4">
                  <c:v>0.647</c:v>
                </c:pt>
                <c:pt idx="5">
                  <c:v>0.598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EC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Trust score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0.936</c:v>
                </c:pt>
                <c:pt idx="1">
                  <c:v>0.928</c:v>
                </c:pt>
                <c:pt idx="2">
                  <c:v>0.917</c:v>
                </c:pt>
                <c:pt idx="3">
                  <c:v>0.861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0.935</c:v>
                </c:pt>
                <c:pt idx="1">
                  <c:v>0.928</c:v>
                </c:pt>
                <c:pt idx="2">
                  <c:v>0.916</c:v>
                </c:pt>
                <c:pt idx="3">
                  <c:v>0.859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Graph conv.</c:v>
                </c:pt>
              </c:strCache>
            </c:strRef>
          </c:tx>
          <c:spPr>
            <a:solidFill>
              <a:srgbClr val="02C39A"/>
            </a:solidFill>
            <a:ln w="31750" cap="flat">
              <a:solidFill>
                <a:srgbClr val="02C3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0.838</c:v>
                </c:pt>
                <c:pt idx="1">
                  <c:v>0.838</c:v>
                </c:pt>
                <c:pt idx="2">
                  <c:v>0.817</c:v>
                </c:pt>
                <c:pt idx="3">
                  <c:v>0.8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TrustRank</c:v>
                </c:pt>
              </c:strCache>
            </c:strRef>
          </c:tx>
          <c:spPr>
            <a:solidFill>
              <a:srgbClr val="9AA5AB"/>
            </a:solidFill>
            <a:ln w="31750" cap="flat">
              <a:solidFill>
                <a:srgbClr val="9AA5A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AA5AB"/>
              </a:solidFill>
              <a:ln w="9525" cap="flat">
                <a:solidFill>
                  <a:srgbClr val="9AA5A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0.74</c:v>
                </c:pt>
                <c:pt idx="1">
                  <c:v>0.717</c:v>
                </c:pt>
                <c:pt idx="2">
                  <c:v>0.659</c:v>
                </c:pt>
                <c:pt idx="3">
                  <c:v>0.622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Propagation only</c:v>
                </c:pt>
              </c:strCache>
            </c:strRef>
          </c:tx>
          <c:spPr>
            <a:solidFill>
              <a:srgbClr val="C8D1D5"/>
            </a:solidFill>
            <a:ln w="31750" cap="flat">
              <a:solidFill>
                <a:srgbClr val="C8D1D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D1D5"/>
              </a:solidFill>
              <a:ln w="9525" cap="flat">
                <a:solidFill>
                  <a:srgbClr val="C8D1D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</c:lvl>
              </c:multiLvlStrCache>
            </c:multiLvl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0.658</c:v>
                </c:pt>
                <c:pt idx="1">
                  <c:v>0.662</c:v>
                </c:pt>
                <c:pt idx="2">
                  <c:v>0.648</c:v>
                </c:pt>
                <c:pt idx="3">
                  <c:v>0.52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6EC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Trust score (ours)</c:v>
                  </c:pt>
                  <c:pt idx="1">
                    <c:v>Random Forest, profile only</c:v>
                  </c:pt>
                  <c:pt idx="2">
                    <c:v>Graph convolution</c:v>
                  </c:pt>
                  <c:pt idx="3">
                    <c:v>TrustRank</c:v>
                  </c:pt>
                  <c:pt idx="4">
                    <c:v>Propagation, no prior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0.956</c:v>
                </c:pt>
                <c:pt idx="1">
                  <c:v>0.955</c:v>
                </c:pt>
                <c:pt idx="2">
                  <c:v>0.858</c:v>
                </c:pt>
                <c:pt idx="3">
                  <c:v>0.737</c:v>
                </c:pt>
                <c:pt idx="4">
                  <c:v>0.604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network-based: Fox8 LLM botnet had near-zero recall with Botometer; PageRank and degree alone still reach F1 0.72 on LLM agents. We never read post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Edge weights are the label homophily of each relation measured on seed-seed edges (phi coefficient), blended with a hand prior. Hub senders are damped by 1/sqrt(degree).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Weights are phi coefficients on seed-seed edges blended with a hand prior (pseudo-count 50). Values from the 12 Sept 2026 MGTAB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Baselines run alongside: Random Forest alone, propagation without the prior, hand-set weights, TrustRank minus Anti-TrustRank, and a 2-hop simplified graph convolution.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from the 12 Sept 2026 MGTAB run, 5-fold cross-fit. Trust score 0.956, Random Forest 0.955, SGC 0.858, TrustRank 0.737, propagation-only 0.604. Seed sweep at 1%: 0.877. Noise sweep at 30%: 0.861.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Score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the source, not the content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1752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detectors are collapsing against LLM-written bots. Who an account is connected to is much harder to fake.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give every account a score from 0 (bot-like) to 1 (trusted) computed only from its position in the network.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of 3: prove it on open, labelled Twitter data before moving to Reddit and a browser overlay.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 ·  September 2026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H="1">
            <a:off x="7863840" y="1005840"/>
            <a:ext cx="1188720" cy="45720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52560" y="1005840"/>
            <a:ext cx="1097280" cy="73152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1463040"/>
            <a:ext cx="640080" cy="118872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2651760"/>
            <a:ext cx="1188720" cy="1828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9692640" y="1737360"/>
            <a:ext cx="457200" cy="10972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9692640" y="2743200"/>
            <a:ext cx="1188720" cy="9144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7680960" y="2651760"/>
            <a:ext cx="822960" cy="6400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7680960" y="1463040"/>
            <a:ext cx="182880" cy="182880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6880" y="4937760"/>
            <a:ext cx="1097280" cy="45720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326880" y="4297680"/>
            <a:ext cx="731520" cy="6400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0424160" y="4572000"/>
            <a:ext cx="640080" cy="82296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0" y="4297680"/>
            <a:ext cx="1005840" cy="27432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058400" y="4297680"/>
            <a:ext cx="365760" cy="10972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8321040" y="2651760"/>
            <a:ext cx="182880" cy="15544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4206240"/>
            <a:ext cx="1005840" cy="73152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10149840" y="1645920"/>
            <a:ext cx="1097280" cy="9144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10881360" y="1645920"/>
            <a:ext cx="365760" cy="109728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7589520" y="3291840"/>
            <a:ext cx="91440" cy="173736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7589520" y="4937760"/>
            <a:ext cx="1737360" cy="91440"/>
          </a:xfrm>
          <a:prstGeom prst="line">
            <a:avLst/>
          </a:prstGeom>
          <a:noFill/>
          <a:ln w="19050">
            <a:solidFill>
              <a:srgbClr val="3E64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2834640"/>
            <a:ext cx="365760" cy="1463040"/>
          </a:xfrm>
          <a:prstGeom prst="line">
            <a:avLst/>
          </a:prstGeom>
          <a:noFill/>
          <a:ln w="19050">
            <a:solidFill>
              <a:srgbClr val="E4572E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662672" y="126187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51392" y="80467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8672" y="153619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02752" y="245059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91472" y="263347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680192" y="254203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79792" y="3090672"/>
            <a:ext cx="402336" cy="40233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25712" y="4736592"/>
            <a:ext cx="402336" cy="402336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22992" y="5193792"/>
            <a:ext cx="402336" cy="402336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57232" y="4096512"/>
            <a:ext cx="402336" cy="402336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863072" y="4370832"/>
            <a:ext cx="402336" cy="402336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19872" y="4005072"/>
            <a:ext cx="402336" cy="402336"/>
          </a:xfrm>
          <a:prstGeom prst="ellipse">
            <a:avLst/>
          </a:prstGeom>
          <a:solidFill>
            <a:srgbClr val="9AA5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19872" y="4005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1045952" y="1444752"/>
            <a:ext cx="402336" cy="402336"/>
          </a:xfrm>
          <a:prstGeom prst="ellipse">
            <a:avLst/>
          </a:prstGeom>
          <a:solidFill>
            <a:srgbClr val="9AA5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1045952" y="1444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88352" y="4828032"/>
            <a:ext cx="402336" cy="402336"/>
          </a:xfrm>
          <a:prstGeom prst="ellipse">
            <a:avLst/>
          </a:prstGeom>
          <a:solidFill>
            <a:srgbClr val="9AA5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3883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7223760" y="5943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human seed     </a:t>
            </a:r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bot seed     </a:t>
            </a:r>
            <a:pPr indent="0" marL="0">
              <a:buNone/>
            </a:pPr>
            <a:r>
              <a:rPr lang="en-US" sz="11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unknown, scored by neighbours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idea: trust leaks along connections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seeds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470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humans get −½, known bots get +½. Every other account starts at a small guess from its profile.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diffuse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7296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 averages its neighbours' values over typed edges: mutual follows, replies, mentions, quotes, shared links.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1605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114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 trust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49884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 point is unique. Trust = ½ − residual. Because the solution is linear, every score splits exactly into prior + per-neighbour terms.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440680"/>
            <a:ext cx="5440680" cy="960120"/>
          </a:xfrm>
          <a:prstGeom prst="roundRect">
            <a:avLst>
              <a:gd name="adj" fmla="val 11429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54864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(1 − α)·q + α·P·r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seed evidence     P: weighted neighbour average     trust = ½ − r     (α = 0.8 chosen on seeds only)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15200" y="2103120"/>
            <a:ext cx="1737360" cy="1463040"/>
          </a:xfrm>
          <a:prstGeom prst="line">
            <a:avLst/>
          </a:prstGeom>
          <a:noFill/>
          <a:ln w="46228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43800" y="267919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 w=0.88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H="1">
            <a:off x="9052560" y="2103120"/>
            <a:ext cx="1737360" cy="1463040"/>
          </a:xfrm>
          <a:prstGeom prst="line">
            <a:avLst/>
          </a:prstGeom>
          <a:noFill/>
          <a:ln w="37084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267919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 w=0.64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flipH="1">
            <a:off x="7223760" y="3566160"/>
            <a:ext cx="1828800" cy="1463040"/>
          </a:xfrm>
          <a:prstGeom prst="line">
            <a:avLst/>
          </a:prstGeom>
          <a:noFill/>
          <a:ln w="47752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0" y="414223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 w=0.92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52560" y="3566160"/>
            <a:ext cx="1828800" cy="1463040"/>
          </a:xfrm>
          <a:prstGeom prst="line">
            <a:avLst/>
          </a:prstGeom>
          <a:noFill/>
          <a:ln w="35941">
            <a:solidFill>
              <a:srgbClr val="E457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326880" y="414223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 w=0.61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flipH="1">
            <a:off x="9052560" y="1463040"/>
            <a:ext cx="9144" cy="2103120"/>
          </a:xfrm>
          <a:prstGeom prst="line">
            <a:avLst/>
          </a:prstGeom>
          <a:noFill/>
          <a:ln w="46228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0" y="2359152"/>
            <a:ext cx="128016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 w=0.88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013448" y="1801368"/>
            <a:ext cx="603504" cy="60350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013448" y="1801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−½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488168" y="1801368"/>
            <a:ext cx="603504" cy="60350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488168" y="18013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−½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922008" y="4727448"/>
            <a:ext cx="603504" cy="60350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922008" y="4727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+½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579608" y="4727448"/>
            <a:ext cx="603504" cy="603504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579608" y="4727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+½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750808" y="1161288"/>
            <a:ext cx="603504" cy="603504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750808" y="116128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−½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95360" y="3108960"/>
            <a:ext cx="914400" cy="914400"/>
          </a:xfrm>
          <a:prstGeom prst="ellipse">
            <a:avLst/>
          </a:prstGeom>
          <a:solidFill>
            <a:srgbClr val="9AA5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95360" y="3108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675120" y="5623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trusted, two bot-like neighbours. Reply and mutual-follow edges carry more weight than one-way follows, so this account lands mildly trusted: about 0.6.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MGTAB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10,199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every one hand-labelled by experts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2,748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3317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(27%), 7,451 humans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 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across 7 relation types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3474720"/>
            <a:ext cx="2514600" cy="1783080"/>
          </a:xfrm>
          <a:prstGeom prst="roundRect">
            <a:avLst>
              <a:gd name="adj" fmla="val 6154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661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+ 24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4343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features + structural features we compute; the 768-dim text embedding is left unused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2356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(CC BY-NC-ND), GraphDetec 2023. A second dataset, cresci-2015, is used as a sanity check but is too easy: every method scores 0.999.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14173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connections carry signal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homophily weight per relation (1 = endpoints always share a label, 0 = no information)</a:t>
            </a:r>
            <a:endParaRPr lang="en-US" sz="11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400800" y="21945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6400800" y="58064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conversation (replies, reciprocal follows) is the strongest evidence. Sharing a hashtag says almost nothing.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pipeline, six steps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1737360" cy="3291840"/>
          </a:xfrm>
          <a:prstGeom prst="roundRect">
            <a:avLst>
              <a:gd name="adj" fmla="val 6316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raw edge types become 6 relations; the follow direction is inferred from the overlap of the two follow lists.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59152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523744" y="1691640"/>
            <a:ext cx="1737360" cy="3291840"/>
          </a:xfrm>
          <a:prstGeom prst="roundRect">
            <a:avLst>
              <a:gd name="adj" fmla="val 6316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06624" y="1874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0662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06624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06624" y="30632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numbers per account: degrees, reciprocity, PageRank, clustering, plus the 20 profile fields.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42816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407408" y="1691640"/>
            <a:ext cx="1737360" cy="3291840"/>
          </a:xfrm>
          <a:prstGeom prst="roundRect">
            <a:avLst>
              <a:gd name="adj" fmla="val 6316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0288" y="1874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0288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prior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90288" y="30632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on those features gives a first P(bot). It is softened to ±¼ so it never outweighs a seed.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126480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91072" y="1691640"/>
            <a:ext cx="1737360" cy="3291840"/>
          </a:xfrm>
          <a:prstGeom prst="roundRect">
            <a:avLst>
              <a:gd name="adj" fmla="val 6316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1874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73952" y="30632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relation gets a weight from how often seed-to-seed edges join same-label accounts.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10144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74736" y="1691640"/>
            <a:ext cx="1737360" cy="3291840"/>
          </a:xfrm>
          <a:prstGeom prst="roundRect">
            <a:avLst>
              <a:gd name="adj" fmla="val 6316"/>
            </a:avLst>
          </a:prstGeom>
          <a:solidFill>
            <a:srgbClr val="0B2F3A"/>
          </a:solidFill>
          <a:ln w="12700">
            <a:solidFill>
              <a:srgbClr val="0B2F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57616" y="187452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761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357616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357616" y="30632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 = (1−α)q + αPr. Converges in 54 iterations. α and the prior strength are picked by cross-validation on seeds.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893808" y="306324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058400" y="1691640"/>
            <a:ext cx="1737360" cy="3291840"/>
          </a:xfrm>
          <a:prstGeom prst="roundRect">
            <a:avLst>
              <a:gd name="adj" fmla="val 6316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0" y="187452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241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24688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&amp; explain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306324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logistic fit maps r to P(bot). Each score is decomposed into prior, per-relation and per-neighbour terms for the dashboard.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2578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evaluation: 5-fold cross-fitting, so every account is scored by a model that never saw its label. Then two stress tests: fewer seeds (1% to 50%) and wrong seeds (0% to 30% flipped).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served by a FastAPI backend to a React dashboard: network explorer, per-account explanation card, communities and dense co-following blocks.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1: every account starts with a prior q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is one number per account. Positive means evidence of bot, negative means evidence of human.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7512" y="1673352"/>
            <a:ext cx="768096" cy="768096"/>
          </a:xfrm>
          <a:prstGeom prst="ellipse">
            <a:avLst/>
          </a:prstGeom>
          <a:solidFill>
            <a:srgbClr val="E4572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916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bot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116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seed. Fixed, never changes during propagation.</a:t>
            </a:r>
            <a:endParaRPr lang="en-US" sz="1100" dirty="0"/>
          </a:p>
        </p:txBody>
      </p:sp>
      <p:pic>
        <p:nvPicPr>
          <p:cNvPr id="7" name="Image 0" descr="eq/q_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828800"/>
            <a:ext cx="1234440" cy="5568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7512" y="3090672"/>
            <a:ext cx="768096" cy="768096"/>
          </a:xfrm>
          <a:prstGeom prst="ellipse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91640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human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91640" y="3429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seed. Fixed, never changes during propagation.</a:t>
            </a:r>
            <a:endParaRPr lang="en-US" sz="1100" dirty="0"/>
          </a:p>
        </p:txBody>
      </p:sp>
      <p:pic>
        <p:nvPicPr>
          <p:cNvPr id="11" name="Image 1" descr="eq/q_hu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3246120"/>
            <a:ext cx="1234440" cy="55682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7512" y="4507992"/>
            <a:ext cx="768096" cy="768096"/>
          </a:xfrm>
          <a:prstGeom prst="ellipse">
            <a:avLst/>
          </a:prstGeom>
          <a:solidFill>
            <a:srgbClr val="9AA5A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67512" y="45079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1691640" y="4480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691640" y="4846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 guess from the Random Forest on profile and structure. λ = 0.5 keeps it within ±¼, so a guess can never outweigh a real label.</a:t>
            </a:r>
            <a:endParaRPr lang="en-US" sz="1100" dirty="0"/>
          </a:p>
        </p:txBody>
      </p:sp>
      <p:pic>
        <p:nvPicPr>
          <p:cNvPr id="16" name="Image 2" descr="eq/q_u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663440"/>
            <a:ext cx="3931920" cy="49586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18320" y="1600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vector q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418320" y="2057400"/>
            <a:ext cx="1463040" cy="402336"/>
          </a:xfrm>
          <a:prstGeom prst="rect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9418320" y="2057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+½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0927080" y="20574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0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418320" y="2514600"/>
            <a:ext cx="14630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9418320" y="2514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−½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0927080" y="25146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1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9418320" y="2971800"/>
            <a:ext cx="1463040" cy="402336"/>
          </a:xfrm>
          <a:prstGeom prst="rect">
            <a:avLst/>
          </a:prstGeom>
          <a:solidFill>
            <a:srgbClr val="EEF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418320" y="2971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+0.12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10927080" y="29718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2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418320" y="3429000"/>
            <a:ext cx="1463040" cy="402336"/>
          </a:xfrm>
          <a:prstGeom prst="rect">
            <a:avLst/>
          </a:prstGeom>
          <a:solidFill>
            <a:srgbClr val="EEF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418320" y="34290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−0.20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10927080" y="34290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3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9418320" y="3886200"/>
            <a:ext cx="1463040" cy="402336"/>
          </a:xfrm>
          <a:prstGeom prst="rect">
            <a:avLst/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9418320" y="38862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−½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10927080" y="38862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4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9418320" y="4343400"/>
            <a:ext cx="1463040" cy="402336"/>
          </a:xfrm>
          <a:prstGeom prst="rect">
            <a:avLst/>
          </a:prstGeom>
          <a:solidFill>
            <a:srgbClr val="EEF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418320" y="43434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+0.05</a:t>
            </a:r>
            <a:endParaRPr lang="en-US" sz="1300" dirty="0"/>
          </a:p>
        </p:txBody>
      </p:sp>
      <p:sp>
        <p:nvSpPr>
          <p:cNvPr id="35" name="Text 30"/>
          <p:cNvSpPr txBox="1"/>
          <p:nvPr/>
        </p:nvSpPr>
        <p:spPr>
          <a:xfrm>
            <a:off x="10927080" y="43434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5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9418320" y="4800600"/>
            <a:ext cx="1463040" cy="402336"/>
          </a:xfrm>
          <a:prstGeom prst="rect">
            <a:avLst/>
          </a:prstGeom>
          <a:solidFill>
            <a:srgbClr val="E457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9418320" y="48006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+½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10927080" y="48006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6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9418320" y="5257800"/>
            <a:ext cx="1463040" cy="402336"/>
          </a:xfrm>
          <a:prstGeom prst="rect">
            <a:avLst/>
          </a:prstGeom>
          <a:solidFill>
            <a:srgbClr val="EEF2F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9418320" y="525780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−0.23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10927080" y="5257800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7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9418320" y="5806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10,199 entries on MGTAB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2: connections become a matrix 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P[v,u] is how much account v listens to account u. Each row is a weighted average over v's neighbours.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 flipH="1">
            <a:off x="1188720" y="1920240"/>
            <a:ext cx="1645920" cy="36576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00200" y="1965960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2286000"/>
            <a:ext cx="274320" cy="1645920"/>
          </a:xfrm>
          <a:prstGeom prst="line">
            <a:avLst/>
          </a:prstGeom>
          <a:noFill/>
          <a:ln w="40640">
            <a:solidFill>
              <a:srgbClr val="02809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971800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834640" y="1920240"/>
            <a:ext cx="274320" cy="1828800"/>
          </a:xfrm>
          <a:prstGeom prst="line">
            <a:avLst/>
          </a:prstGeom>
          <a:noFill/>
          <a:ln w="20320">
            <a:solidFill>
              <a:srgbClr val="9AA5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60320" y="2697480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 flipH="1">
            <a:off x="1463040" y="3749040"/>
            <a:ext cx="1645920" cy="182880"/>
          </a:xfrm>
          <a:prstGeom prst="line">
            <a:avLst/>
          </a:prstGeom>
          <a:noFill/>
          <a:ln w="25400">
            <a:solidFill>
              <a:srgbClr val="9AA5A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74520" y="3703320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32688" y="2029968"/>
            <a:ext cx="512064" cy="512064"/>
          </a:xfrm>
          <a:prstGeom prst="ellipse">
            <a:avLst/>
          </a:prstGeom>
          <a:solidFill>
            <a:srgbClr val="0B2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32688" y="2029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78608" y="1664208"/>
            <a:ext cx="512064" cy="512064"/>
          </a:xfrm>
          <a:prstGeom prst="ellipse">
            <a:avLst/>
          </a:prstGeom>
          <a:solidFill>
            <a:srgbClr val="0B2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78608" y="1664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07008" y="3675888"/>
            <a:ext cx="512064" cy="512064"/>
          </a:xfrm>
          <a:prstGeom prst="ellipse">
            <a:avLst/>
          </a:prstGeom>
          <a:solidFill>
            <a:srgbClr val="0B2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07008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852928" y="3493008"/>
            <a:ext cx="512064" cy="512064"/>
          </a:xfrm>
          <a:prstGeom prst="ellipse">
            <a:avLst/>
          </a:prstGeom>
          <a:solidFill>
            <a:srgbClr val="0B2F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52928" y="34930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480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accounts, 4 typed edges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9AA5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1920240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389120" y="1627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1920240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389120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56048" y="1920240"/>
            <a:ext cx="566928" cy="566928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56048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22976" y="1920240"/>
            <a:ext cx="566928" cy="566928"/>
          </a:xfrm>
          <a:prstGeom prst="rect">
            <a:avLst/>
          </a:prstGeom>
          <a:solidFill>
            <a:srgbClr val="7F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22976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89904" y="1920240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89904" y="1920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069080" y="2487168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956048" y="1627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389120" y="2487168"/>
            <a:ext cx="566928" cy="566928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38912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956048" y="2487168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956048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22976" y="2487168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22976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89904" y="2487168"/>
            <a:ext cx="566928" cy="566928"/>
          </a:xfrm>
          <a:prstGeom prst="rect">
            <a:avLst/>
          </a:prstGeom>
          <a:solidFill>
            <a:srgbClr val="7F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89904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069080" y="3054096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5522976" y="1627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389120" y="3054096"/>
            <a:ext cx="566928" cy="566928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389120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56048" y="3054096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956048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522976" y="3054096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22976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89904" y="3054096"/>
            <a:ext cx="566928" cy="566928"/>
          </a:xfrm>
          <a:prstGeom prst="rect">
            <a:avLst/>
          </a:prstGeom>
          <a:solidFill>
            <a:srgbClr val="7F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089904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0.38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4069080" y="3621024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089904" y="162763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389120" y="3621024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389120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956048" y="3621024"/>
            <a:ext cx="566928" cy="566928"/>
          </a:xfrm>
          <a:prstGeom prst="rect">
            <a:avLst/>
          </a:prstGeom>
          <a:solidFill>
            <a:srgbClr val="7FC4C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56048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522976" y="3621024"/>
            <a:ext cx="566928" cy="566928"/>
          </a:xfrm>
          <a:prstGeom prst="rect">
            <a:avLst/>
          </a:prstGeom>
          <a:solidFill>
            <a:srgbClr val="02809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22976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89904" y="3621024"/>
            <a:ext cx="566928" cy="566928"/>
          </a:xfrm>
          <a:prstGeom prst="rect">
            <a:avLst/>
          </a:prstGeom>
          <a:solidFill>
            <a:srgbClr val="F4F7F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089904" y="36210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023360" y="43434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rows sum to 1. Row 0 listens 54% to account 1 (mutual follow) and 46% to account 2 (reply).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589520" y="155448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726680" y="166420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726680" y="1664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8138160" y="1645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Damp the hubs</a:t>
            </a:r>
            <a:endParaRPr lang="en-US" sz="1300" dirty="0"/>
          </a:p>
        </p:txBody>
      </p:sp>
      <p:pic>
        <p:nvPicPr>
          <p:cNvPr id="67" name="Image 0" descr="eq/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011680"/>
            <a:ext cx="2011680" cy="581244"/>
          </a:xfrm>
          <a:prstGeom prst="rect">
            <a:avLst/>
          </a:prstGeom>
        </p:spPr>
      </p:pic>
      <p:sp>
        <p:nvSpPr>
          <p:cNvPr id="68" name="Text 65"/>
          <p:cNvSpPr txBox="1"/>
          <p:nvPr/>
        </p:nvSpPr>
        <p:spPr>
          <a:xfrm>
            <a:off x="7772400" y="2638644"/>
            <a:ext cx="3840480" cy="24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followed by thousands passes on only 1/√degree of its value to each.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7589520" y="306324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726680" y="317296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726680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813816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each relation</a:t>
            </a:r>
            <a:endParaRPr lang="en-US" sz="1300" dirty="0"/>
          </a:p>
        </p:txBody>
      </p:sp>
      <p:pic>
        <p:nvPicPr>
          <p:cNvPr id="73" name="Image 1" descr="eq/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20440"/>
            <a:ext cx="2743200" cy="517104"/>
          </a:xfrm>
          <a:prstGeom prst="rect">
            <a:avLst/>
          </a:prstGeom>
        </p:spPr>
      </p:pic>
      <p:sp>
        <p:nvSpPr>
          <p:cNvPr id="74" name="Text 70"/>
          <p:cNvSpPr txBox="1"/>
          <p:nvPr/>
        </p:nvSpPr>
        <p:spPr>
          <a:xfrm>
            <a:off x="7772400" y="4083264"/>
            <a:ext cx="3840480" cy="625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label correlation on seed–seed edges (replies 0.92, hashtags 0.12). The 50 pulls sparse channels toward the hand prior.</a:t>
            </a:r>
            <a:endParaRPr lang="en-US" sz="950" dirty="0"/>
          </a:p>
        </p:txBody>
      </p:sp>
      <p:sp>
        <p:nvSpPr>
          <p:cNvPr id="75" name="Shape 71"/>
          <p:cNvSpPr/>
          <p:nvPr/>
        </p:nvSpPr>
        <p:spPr>
          <a:xfrm>
            <a:off x="7589520" y="4892040"/>
            <a:ext cx="4114800" cy="1371600"/>
          </a:xfrm>
          <a:prstGeom prst="roundRect">
            <a:avLst>
              <a:gd name="adj" fmla="val 6667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7726680" y="5001768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7726680" y="5001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78" name="Text 74"/>
          <p:cNvSpPr txBox="1"/>
          <p:nvPr/>
        </p:nvSpPr>
        <p:spPr>
          <a:xfrm>
            <a:off x="813816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over neighbours</a:t>
            </a:r>
            <a:endParaRPr lang="en-US" sz="1300" dirty="0"/>
          </a:p>
        </p:txBody>
      </p:sp>
      <p:pic>
        <p:nvPicPr>
          <p:cNvPr id="79" name="Image 2" descr="eq/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5349240"/>
            <a:ext cx="4023360" cy="498780"/>
          </a:xfrm>
          <a:prstGeom prst="rect">
            <a:avLst/>
          </a:prstGeom>
        </p:spPr>
      </p:pic>
      <p:sp>
        <p:nvSpPr>
          <p:cNvPr id="80" name="Text 75"/>
          <p:cNvSpPr txBox="1"/>
          <p:nvPr/>
        </p:nvSpPr>
        <p:spPr>
          <a:xfrm>
            <a:off x="7772400" y="5893740"/>
            <a:ext cx="3840480" cy="324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weighted channels and divide by the total incoming weight 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Math 3: solve for the fixed point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account's residual is a blend of its own prior and the average of its neighbours' residuals.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eq/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783080"/>
            <a:ext cx="3840480" cy="53319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20% of your own prior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80% from neighbours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1546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Unrolled, the solution is a sum over hops. Each hop is discounted by α = 0.8, so distant seeds matter less.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931920"/>
            <a:ext cx="731520" cy="10058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eq/ho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199486"/>
            <a:ext cx="274320" cy="4707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" y="5029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41605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1554480" y="3931920"/>
            <a:ext cx="1097280" cy="1005840"/>
          </a:xfrm>
          <a:prstGeom prst="roundRect">
            <a:avLst>
              <a:gd name="adj" fmla="val 9091"/>
            </a:avLst>
          </a:prstGeom>
          <a:solidFill>
            <a:srgbClr val="DDE9EC"/>
          </a:solidFill>
          <a:ln w="12700">
            <a:solidFill>
              <a:srgbClr val="DDE9EC"/>
            </a:solidFill>
            <a:prstDash val="solid"/>
          </a:ln>
        </p:spPr>
      </p:sp>
      <p:pic>
        <p:nvPicPr>
          <p:cNvPr id="14" name="Image 2" descr="eq/hop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185308"/>
            <a:ext cx="822960" cy="4990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5029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hop away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2651760" y="41605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17" name="Shape 12"/>
          <p:cNvSpPr/>
          <p:nvPr/>
        </p:nvSpPr>
        <p:spPr>
          <a:xfrm>
            <a:off x="2834640" y="3931920"/>
            <a:ext cx="1280160" cy="1005840"/>
          </a:xfrm>
          <a:prstGeom prst="roundRect">
            <a:avLst>
              <a:gd name="adj" fmla="val 9091"/>
            </a:avLst>
          </a:prstGeom>
          <a:solidFill>
            <a:srgbClr val="9FBFC6"/>
          </a:solidFill>
          <a:ln w="12700">
            <a:solidFill>
              <a:srgbClr val="9FBFC6"/>
            </a:solidFill>
            <a:prstDash val="solid"/>
          </a:ln>
        </p:spPr>
      </p:sp>
      <p:pic>
        <p:nvPicPr>
          <p:cNvPr id="18" name="Image 3" descr="eq/hop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800" y="4215653"/>
            <a:ext cx="1005840" cy="43837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2834640" y="5029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hops away</a:t>
            </a:r>
            <a:endParaRPr lang="en-US" sz="1000" dirty="0"/>
          </a:p>
        </p:txBody>
      </p:sp>
      <p:sp>
        <p:nvSpPr>
          <p:cNvPr id="20" name="Text 14"/>
          <p:cNvSpPr txBox="1"/>
          <p:nvPr/>
        </p:nvSpPr>
        <p:spPr>
          <a:xfrm>
            <a:off x="4114800" y="416052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200" dirty="0"/>
          </a:p>
        </p:txBody>
      </p:sp>
      <p:sp>
        <p:nvSpPr>
          <p:cNvPr id="21" name="Shape 15"/>
          <p:cNvSpPr/>
          <p:nvPr/>
        </p:nvSpPr>
        <p:spPr>
          <a:xfrm>
            <a:off x="4297680" y="393192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5F8F99"/>
          </a:solidFill>
          <a:ln w="12700">
            <a:solidFill>
              <a:srgbClr val="5F8F99"/>
            </a:solidFill>
            <a:prstDash val="solid"/>
          </a:ln>
        </p:spPr>
      </p:sp>
      <p:pic>
        <p:nvPicPr>
          <p:cNvPr id="22" name="Image 4" descr="eq/hop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260175"/>
            <a:ext cx="1097280" cy="349329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297680" y="5029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hops and beyond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1.0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66928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further hop is multiplied by α = 0.8 again: 0.8, 0.64, 0.51, … Seeds far away still count, but less.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6400800" y="1554480"/>
            <a:ext cx="530352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5" descr="eq/so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1810512"/>
            <a:ext cx="4937760" cy="635839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400800" y="28803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eq/trus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0" y="3154680"/>
            <a:ext cx="4937760" cy="351075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6400800" y="406908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2"/>
          <p:cNvSpPr txBox="1"/>
          <p:nvPr/>
        </p:nvSpPr>
        <p:spPr>
          <a:xfrm>
            <a:off x="64008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23"/>
          <p:cNvSpPr txBox="1"/>
          <p:nvPr/>
        </p:nvSpPr>
        <p:spPr>
          <a:xfrm>
            <a:off x="6858000" y="40507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00" dirty="0"/>
          </a:p>
        </p:txBody>
      </p:sp>
      <p:sp>
        <p:nvSpPr>
          <p:cNvPr id="33" name="Text 24"/>
          <p:cNvSpPr txBox="1"/>
          <p:nvPr/>
        </p:nvSpPr>
        <p:spPr>
          <a:xfrm>
            <a:off x="6858000" y="4343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is row-stochastic, so the map is a contraction with rate α. One answer, reached in 54 iterations.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6400800" y="484632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26"/>
          <p:cNvSpPr txBox="1"/>
          <p:nvPr/>
        </p:nvSpPr>
        <p:spPr>
          <a:xfrm>
            <a:off x="6400800" y="4846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6858000" y="48280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</a:t>
            </a:r>
            <a:endParaRPr lang="en-US" sz="1200" dirty="0"/>
          </a:p>
        </p:txBody>
      </p:sp>
      <p:sp>
        <p:nvSpPr>
          <p:cNvPr id="37" name="Text 28"/>
          <p:cNvSpPr txBox="1"/>
          <p:nvPr/>
        </p:nvSpPr>
        <p:spPr>
          <a:xfrm>
            <a:off x="6858000" y="5120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|q| ≤ ½ implies |r*| ≤ ½, so trust always lands in [0, 1] without clipping.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6400800" y="5623560"/>
            <a:ext cx="329184" cy="32918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0"/>
          <p:cNvSpPr txBox="1"/>
          <p:nvPr/>
        </p:nvSpPr>
        <p:spPr>
          <a:xfrm>
            <a:off x="6400800" y="5623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0" name="Text 31"/>
          <p:cNvSpPr txBox="1"/>
          <p:nvPr/>
        </p:nvSpPr>
        <p:spPr>
          <a:xfrm>
            <a:off x="6858000" y="56052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6858000" y="58978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r* is linear in q: every score splits exactly into prior + per-relation + per-neighbour terms.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baselines we compare against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seeds, same cross-fitting, different formula.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37360"/>
            <a:ext cx="365760" cy="3657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Forest, profile only</a:t>
            </a:r>
            <a:endParaRPr lang="en-US" sz="1500" dirty="0"/>
          </a:p>
        </p:txBody>
      </p:sp>
      <p:pic>
        <p:nvPicPr>
          <p:cNvPr id="8" name="Image 0" descr="eq/r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86000"/>
            <a:ext cx="4480560" cy="90813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3331296"/>
            <a:ext cx="4937760" cy="280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graph at all. 500 trees on 44 numbers per account.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737360"/>
            <a:ext cx="365760" cy="36576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only</a:t>
            </a:r>
            <a:endParaRPr lang="en-US" sz="1500" dirty="0"/>
          </a:p>
        </p:txBody>
      </p:sp>
      <p:pic>
        <p:nvPicPr>
          <p:cNvPr id="14" name="Image 1" descr="eq/pr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286000"/>
            <a:ext cx="3657600" cy="56817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537960" y="2991331"/>
            <a:ext cx="4937760" cy="62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formula with the Random Forest switched off. Only the ±½ seeds spread.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114800"/>
            <a:ext cx="365760" cy="365760"/>
          </a:xfrm>
          <a:prstGeom prst="ellipse">
            <a:avLst/>
          </a:prstGeom>
          <a:solidFill>
            <a:srgbClr val="9AA5AB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2296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132588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TrustRank − Anti-TrustRank</a:t>
            </a:r>
            <a:endParaRPr lang="en-US" sz="1500" dirty="0"/>
          </a:p>
        </p:txBody>
      </p:sp>
      <p:pic>
        <p:nvPicPr>
          <p:cNvPr id="20" name="Image 2" descr="eq/t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63440"/>
            <a:ext cx="4754880" cy="49610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914400" y="5296709"/>
            <a:ext cx="4937760" cy="69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random walks with restart: trust from human seeds along follows, distrust from bot seeds against follows. β = 0.85, degree-normalised.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63640" y="3931920"/>
            <a:ext cx="5440680" cy="2194560"/>
          </a:xfrm>
          <a:prstGeom prst="roundRect">
            <a:avLst>
              <a:gd name="adj" fmla="val 5000"/>
            </a:avLst>
          </a:prstGeom>
          <a:solidFill>
            <a:srgbClr val="E6F2F4"/>
          </a:solidFill>
          <a:ln w="12700">
            <a:solidFill>
              <a:srgbClr val="E6F2F4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114800"/>
            <a:ext cx="365760" cy="365760"/>
          </a:xfrm>
          <a:prstGeom prst="ellipse">
            <a:avLst/>
          </a:prstGeom>
          <a:solidFill>
            <a:srgbClr val="9AA5AB"/>
          </a:solidFill>
          <a:ln w="12700">
            <a:solidFill>
              <a:srgbClr val="9AA5AB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4652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94944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graph convolution</a:t>
            </a:r>
            <a:endParaRPr lang="en-US" sz="1500" dirty="0"/>
          </a:p>
        </p:txBody>
      </p:sp>
      <p:pic>
        <p:nvPicPr>
          <p:cNvPr id="26" name="Image 3" descr="eq/sg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663440"/>
            <a:ext cx="4754880" cy="31699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37960" y="5117592"/>
            <a:ext cx="4937760" cy="871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the features twice over the graph, then a logistic regression.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MGTAB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cross-fit: every account is scored by a model that never saw its label.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5394960" cy="1828800"/>
        </p:xfrm>
        <a:graphic>
          <a:graphicData uri="http://schemas.openxmlformats.org/drawingml/2006/table">
            <a:tbl>
              <a:tblPr/>
              <a:tblGrid>
                <a:gridCol w="2103120"/>
                <a:gridCol w="658368"/>
                <a:gridCol w="658368"/>
                <a:gridCol w="658368"/>
                <a:gridCol w="658368"/>
                <a:gridCol w="658368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 score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Propagation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2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35661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F1, precision and recall at P(bot) &gt; 0.5 after Platt calibration.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02336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it. </a:t>
            </a:r>
            <a:pPr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alone (propagation only) is weak on MGTAB: bots here mostly connect to humans. Combined with the profile prior it equals the Random Forest on AUC, and adds what the forest cannot give: robustness with few labels and an exact explanation per account.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554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curve: bots caught vs humans wrongly flagged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00" y="1874520"/>
          <a:ext cx="53035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6576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Robustness: fewer labels, wrong labels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held-out accounts, averaged over 5 random seed draws.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labels used as seeds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7452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760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1% of labels (about 100 accounts) the trust score already reaches 0.88.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5544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seed labels deliberately flipped</a:t>
            </a:r>
            <a:endParaRPr lang="en-US" sz="14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6400800" y="1874520"/>
          <a:ext cx="53949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400800" y="57607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30% of the seeds mislabelled, AUC stays at 0.86. TrustRank and pure propagation collapse.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 comes next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on MGTAB: probability a random bot ranks below a random human (0.5 = coin flip)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00200"/>
          <a:ext cx="59436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60020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16414D"/>
          </a:solidFill>
          <a:ln w="12700">
            <a:solidFill>
              <a:srgbClr val="16414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514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with only 1% of labels as seeds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509760" y="160020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16414D"/>
          </a:solidFill>
          <a:ln w="12700">
            <a:solidFill>
              <a:srgbClr val="16414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9264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692640" y="251460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with 30% of seed labels deliberately wrong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3611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reading: the graph adds little over a good profile model on this dataset. The value is robustness to few and noisy labels, and explanations that a profile model cannot give.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Next, following the research brief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539496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5376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layer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56875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detected clusters as an edge type and a distrust prior, not just a display.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434840" y="539496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43484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5376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937760" y="56875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'unknown' for accounts with little evidence instead of 'trusted'.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229600" y="5394960"/>
            <a:ext cx="384048" cy="384048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0" y="5394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732520" y="5376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data, then Reddit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732520" y="56875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TwiBot-22 benchmark, synthetic Sybil attacks, then the Reddit reply graph.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2026-09-12T23:18:21Z</dcterms:created>
  <dcterms:modified xsi:type="dcterms:W3CDTF">2026-09-12T23:18:21Z</dcterms:modified>
</cp:coreProperties>
</file>
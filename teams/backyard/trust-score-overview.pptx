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Reply</c:v>
                  </c:pt>
                  <c:pt idx="1">
                    <c:v>Mutual follow</c:v>
                  </c:pt>
                  <c:pt idx="2">
                    <c:v>Quote</c:v>
                  </c:pt>
                  <c:pt idx="3">
                    <c:v>Mention</c:v>
                  </c:pt>
                  <c:pt idx="4">
                    <c:v>One-way follow</c:v>
                  </c:pt>
                  <c:pt idx="5">
                    <c:v>Shared URL</c:v>
                  </c:pt>
                  <c:pt idx="6">
                    <c:v>Shared hashtag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0.92</c:v>
                </c:pt>
                <c:pt idx="1">
                  <c:v>0.88</c:v>
                </c:pt>
                <c:pt idx="2">
                  <c:v>0.78</c:v>
                </c:pt>
                <c:pt idx="3">
                  <c:v>0.64</c:v>
                </c:pt>
                <c:pt idx="4">
                  <c:v>0.61</c:v>
                </c:pt>
                <c:pt idx="5">
                  <c:v>0.24</c:v>
                </c:pt>
                <c:pt idx="6">
                  <c:v>0.12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Trust score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0.5466666666666667</c:v>
                </c:pt>
                <c:pt idx="2">
                  <c:v>0.7</c:v>
                </c:pt>
                <c:pt idx="3">
                  <c:v>0.7965</c:v>
                </c:pt>
                <c:pt idx="4">
                  <c:v>0.858</c:v>
                </c:pt>
                <c:pt idx="5">
                  <c:v>0.91</c:v>
                </c:pt>
                <c:pt idx="6">
                  <c:v>0.9371818181818181</c:v>
                </c:pt>
                <c:pt idx="7">
                  <c:v>0.9575714285714285</c:v>
                </c:pt>
                <c:pt idx="8">
                  <c:v>0.9708571428571429</c:v>
                </c:pt>
                <c:pt idx="9">
                  <c:v>0.9846363636363636</c:v>
                </c:pt>
                <c:pt idx="10">
                  <c:v>0.9910596026490066</c:v>
                </c:pt>
                <c:pt idx="11">
                  <c:v>0.9913576158940397</c:v>
                </c:pt>
                <c:pt idx="12">
                  <c:v>0.9916556291390728</c:v>
                </c:pt>
                <c:pt idx="13">
                  <c:v>0.991953642384106</c:v>
                </c:pt>
                <c:pt idx="14">
                  <c:v>0.9922516556291391</c:v>
                </c:pt>
                <c:pt idx="15">
                  <c:v>0.9925496688741722</c:v>
                </c:pt>
                <c:pt idx="16">
                  <c:v>0.9928476821192053</c:v>
                </c:pt>
                <c:pt idx="17">
                  <c:v>0.9931456953642384</c:v>
                </c:pt>
                <c:pt idx="18">
                  <c:v>0.9934437086092716</c:v>
                </c:pt>
                <c:pt idx="19">
                  <c:v>0.9937417218543046</c:v>
                </c:pt>
                <c:pt idx="20">
                  <c:v>0.9940397350993377</c:v>
                </c:pt>
                <c:pt idx="21">
                  <c:v>0.9943377483443708</c:v>
                </c:pt>
                <c:pt idx="22">
                  <c:v>0.9946357615894039</c:v>
                </c:pt>
                <c:pt idx="23">
                  <c:v>0.9949337748344371</c:v>
                </c:pt>
                <c:pt idx="24">
                  <c:v>0.9952317880794702</c:v>
                </c:pt>
                <c:pt idx="25">
                  <c:v>0.9955298013245033</c:v>
                </c:pt>
                <c:pt idx="26">
                  <c:v>0.9958278145695364</c:v>
                </c:pt>
                <c:pt idx="27">
                  <c:v>0.9961258278145695</c:v>
                </c:pt>
                <c:pt idx="28">
                  <c:v>0.9964238410596027</c:v>
                </c:pt>
                <c:pt idx="29">
                  <c:v>0.9967218543046358</c:v>
                </c:pt>
                <c:pt idx="30">
                  <c:v>0.9970198675496689</c:v>
                </c:pt>
                <c:pt idx="31">
                  <c:v>0.997317880794702</c:v>
                </c:pt>
                <c:pt idx="32">
                  <c:v>0.997615894039735</c:v>
                </c:pt>
                <c:pt idx="33">
                  <c:v>0.9979139072847683</c:v>
                </c:pt>
                <c:pt idx="34">
                  <c:v>0.9982119205298013</c:v>
                </c:pt>
                <c:pt idx="35">
                  <c:v>0.9985099337748344</c:v>
                </c:pt>
                <c:pt idx="36">
                  <c:v>0.9988079470198675</c:v>
                </c:pt>
                <c:pt idx="37">
                  <c:v>0.9991059602649006</c:v>
                </c:pt>
                <c:pt idx="38">
                  <c:v>0.9994039735099338</c:v>
                </c:pt>
                <c:pt idx="39">
                  <c:v>0.9997019867549669</c:v>
                </c:pt>
                <c:pt idx="40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E4572E"/>
            </a:solidFill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Sheet1!$C$2:$C$42</c:f>
              <c:numCache>
                <c:formatCode>General</c:formatCode>
                <c:ptCount val="41"/>
                <c:pt idx="0">
                  <c:v>0</c:v>
                </c:pt>
                <c:pt idx="1">
                  <c:v>0.5255000000000001</c:v>
                </c:pt>
                <c:pt idx="2">
                  <c:v>0.6930000000000001</c:v>
                </c:pt>
                <c:pt idx="3">
                  <c:v>0.7802</c:v>
                </c:pt>
                <c:pt idx="4">
                  <c:v>0.852</c:v>
                </c:pt>
                <c:pt idx="5">
                  <c:v>0.906875</c:v>
                </c:pt>
                <c:pt idx="6">
                  <c:v>0.941</c:v>
                </c:pt>
                <c:pt idx="7">
                  <c:v>0.957625</c:v>
                </c:pt>
                <c:pt idx="8">
                  <c:v>0.9712857142857143</c:v>
                </c:pt>
                <c:pt idx="9">
                  <c:v>0.9830625</c:v>
                </c:pt>
                <c:pt idx="10">
                  <c:v>0.9899642857142857</c:v>
                </c:pt>
                <c:pt idx="11">
                  <c:v>0.9939821428571428</c:v>
                </c:pt>
                <c:pt idx="12">
                  <c:v>0.998</c:v>
                </c:pt>
                <c:pt idx="13">
                  <c:v>0.9981082251082251</c:v>
                </c:pt>
                <c:pt idx="14">
                  <c:v>0.9982164502164502</c:v>
                </c:pt>
                <c:pt idx="15">
                  <c:v>0.9983246753246753</c:v>
                </c:pt>
                <c:pt idx="16">
                  <c:v>0.9984329004329004</c:v>
                </c:pt>
                <c:pt idx="17">
                  <c:v>0.9985411255411255</c:v>
                </c:pt>
                <c:pt idx="18">
                  <c:v>0.9986493506493507</c:v>
                </c:pt>
                <c:pt idx="19">
                  <c:v>0.9987575757575757</c:v>
                </c:pt>
                <c:pt idx="20">
                  <c:v>0.9988658008658009</c:v>
                </c:pt>
                <c:pt idx="21">
                  <c:v>0.998974025974026</c:v>
                </c:pt>
                <c:pt idx="22">
                  <c:v>0.9990822510822511</c:v>
                </c:pt>
                <c:pt idx="23">
                  <c:v>0.9991904761904762</c:v>
                </c:pt>
                <c:pt idx="24">
                  <c:v>0.9992987012987014</c:v>
                </c:pt>
                <c:pt idx="25">
                  <c:v>0.9994069264069264</c:v>
                </c:pt>
                <c:pt idx="26">
                  <c:v>0.9995151515151515</c:v>
                </c:pt>
                <c:pt idx="27">
                  <c:v>0.9996233766233766</c:v>
                </c:pt>
                <c:pt idx="28">
                  <c:v>0.9997316017316017</c:v>
                </c:pt>
                <c:pt idx="29">
                  <c:v>0.9998398268398269</c:v>
                </c:pt>
                <c:pt idx="30">
                  <c:v>0.9999480519480519</c:v>
                </c:pt>
                <c:pt idx="31">
                  <c:v>1</c:v>
                </c:pt>
                <c:pt idx="32">
                  <c:v>1</c:v>
                </c:pt>
                <c:pt idx="33">
                  <c:v>1</c:v>
                </c:pt>
                <c:pt idx="34">
                  <c:v>1</c:v>
                </c:pt>
                <c:pt idx="35">
                  <c:v>1</c:v>
                </c:pt>
                <c:pt idx="36">
                  <c:v>1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  <c:pt idx="40">
                  <c:v>1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Propagation only</c:v>
                </c:pt>
              </c:strCache>
            </c:strRef>
          </c:tx>
          <c:spPr>
            <a:solidFill>
              <a:srgbClr val="9AA5AB"/>
            </a:solidFill>
            <a:ln w="31750" cap="flat">
              <a:solidFill>
                <a:srgbClr val="9AA5AB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9AA5AB"/>
              </a:solidFill>
              <a:ln w="9525" cap="flat">
                <a:solidFill>
                  <a:srgbClr val="9AA5AB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Sheet1!$D$2:$D$42</c:f>
              <c:numCache>
                <c:formatCode>General</c:formatCode>
                <c:ptCount val="41"/>
                <c:pt idx="0">
                  <c:v>0</c:v>
                </c:pt>
                <c:pt idx="1">
                  <c:v>0.19336363636363638</c:v>
                </c:pt>
                <c:pt idx="2">
                  <c:v>0.274</c:v>
                </c:pt>
                <c:pt idx="3">
                  <c:v>0.3085</c:v>
                </c:pt>
                <c:pt idx="4">
                  <c:v>0.3355</c:v>
                </c:pt>
                <c:pt idx="5">
                  <c:v>0.34675</c:v>
                </c:pt>
                <c:pt idx="6">
                  <c:v>0.3587560975609756</c:v>
                </c:pt>
                <c:pt idx="7">
                  <c:v>0.3706842105263158</c:v>
                </c:pt>
                <c:pt idx="8">
                  <c:v>0.3812105263157895</c:v>
                </c:pt>
                <c:pt idx="9">
                  <c:v>0.3922</c:v>
                </c:pt>
                <c:pt idx="10">
                  <c:v>0.4034390243902439</c:v>
                </c:pt>
                <c:pt idx="11">
                  <c:v>0.4144146341463415</c:v>
                </c:pt>
                <c:pt idx="12">
                  <c:v>0.4265555555555555</c:v>
                </c:pt>
                <c:pt idx="13">
                  <c:v>0.44044444444444447</c:v>
                </c:pt>
                <c:pt idx="14">
                  <c:v>0.4562</c:v>
                </c:pt>
                <c:pt idx="15">
                  <c:v>0.4728928571428571</c:v>
                </c:pt>
                <c:pt idx="16">
                  <c:v>0.4888823529411765</c:v>
                </c:pt>
                <c:pt idx="17">
                  <c:v>0.5055000000000001</c:v>
                </c:pt>
                <c:pt idx="18">
                  <c:v>0.5252</c:v>
                </c:pt>
                <c:pt idx="19">
                  <c:v>0.5453600000000001</c:v>
                </c:pt>
                <c:pt idx="20">
                  <c:v>0.5663103448275861</c:v>
                </c:pt>
                <c:pt idx="21">
                  <c:v>0.587</c:v>
                </c:pt>
                <c:pt idx="22">
                  <c:v>0.6118333333333333</c:v>
                </c:pt>
                <c:pt idx="23">
                  <c:v>0.6381111111111111</c:v>
                </c:pt>
                <c:pt idx="24">
                  <c:v>0.662</c:v>
                </c:pt>
                <c:pt idx="25">
                  <c:v>0.6935882352941176</c:v>
                </c:pt>
                <c:pt idx="26">
                  <c:v>0.72</c:v>
                </c:pt>
                <c:pt idx="27">
                  <c:v>0.7441428571428571</c:v>
                </c:pt>
                <c:pt idx="28">
                  <c:v>0.7706363636363637</c:v>
                </c:pt>
                <c:pt idx="29">
                  <c:v>0.7993809523809524</c:v>
                </c:pt>
                <c:pt idx="30">
                  <c:v>0.8291</c:v>
                </c:pt>
                <c:pt idx="31">
                  <c:v>0.855</c:v>
                </c:pt>
                <c:pt idx="32">
                  <c:v>0.88</c:v>
                </c:pt>
                <c:pt idx="33">
                  <c:v>0.8978571428571429</c:v>
                </c:pt>
                <c:pt idx="34">
                  <c:v>0.9146666666666667</c:v>
                </c:pt>
                <c:pt idx="35">
                  <c:v>0.9369999999999999</c:v>
                </c:pt>
                <c:pt idx="36">
                  <c:v>0.9500571428571428</c:v>
                </c:pt>
                <c:pt idx="37">
                  <c:v>0.9614545454545455</c:v>
                </c:pt>
                <c:pt idx="38">
                  <c:v>0.9728181818181818</c:v>
                </c:pt>
                <c:pt idx="39">
                  <c:v>0.9860465116279069</c:v>
                </c:pt>
                <c:pt idx="40">
                  <c:v>1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Chance</c:v>
                </c:pt>
              </c:strCache>
            </c:strRef>
          </c:tx>
          <c:spPr>
            <a:solidFill>
              <a:srgbClr val="C8D1D5"/>
            </a:solidFill>
            <a:ln w="31750" cap="flat">
              <a:solidFill>
                <a:srgbClr val="C8D1D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8D1D5"/>
              </a:solidFill>
              <a:ln w="9525" cap="flat">
                <a:solidFill>
                  <a:srgbClr val="C8D1D5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Sheet1!$E$2:$E$42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false positive rate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6EC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true positive rate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Trust score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1%</c:v>
                  </c:pt>
                  <c:pt idx="1">
                    <c:v>2%</c:v>
                  </c:pt>
                  <c:pt idx="2">
                    <c:v>5%</c:v>
                  </c:pt>
                  <c:pt idx="3">
                    <c:v>10%</c:v>
                  </c:pt>
                  <c:pt idx="4">
                    <c:v>20%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0.877</c:v>
                </c:pt>
                <c:pt idx="1">
                  <c:v>0.906</c:v>
                </c:pt>
                <c:pt idx="2">
                  <c:v>0.924</c:v>
                </c:pt>
                <c:pt idx="3">
                  <c:v>0.94</c:v>
                </c:pt>
                <c:pt idx="4">
                  <c:v>0.945</c:v>
                </c:pt>
                <c:pt idx="5">
                  <c:v>0.951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E4572E"/>
            </a:solidFill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1%</c:v>
                  </c:pt>
                  <c:pt idx="1">
                    <c:v>2%</c:v>
                  </c:pt>
                  <c:pt idx="2">
                    <c:v>5%</c:v>
                  </c:pt>
                  <c:pt idx="3">
                    <c:v>10%</c:v>
                  </c:pt>
                  <c:pt idx="4">
                    <c:v>20%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0.885</c:v>
                </c:pt>
                <c:pt idx="1">
                  <c:v>0.907</c:v>
                </c:pt>
                <c:pt idx="2">
                  <c:v>0.924</c:v>
                </c:pt>
                <c:pt idx="3">
                  <c:v>0.939</c:v>
                </c:pt>
                <c:pt idx="4">
                  <c:v>0.944</c:v>
                </c:pt>
                <c:pt idx="5">
                  <c:v>0.95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Graph conv.</c:v>
                </c:pt>
              </c:strCache>
            </c:strRef>
          </c:tx>
          <c:spPr>
            <a:solidFill>
              <a:srgbClr val="02C39A"/>
            </a:solidFill>
            <a:ln w="31750" cap="flat">
              <a:solidFill>
                <a:srgbClr val="02C3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C39A"/>
              </a:solidFill>
              <a:ln w="9525" cap="flat">
                <a:solidFill>
                  <a:srgbClr val="02C3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1%</c:v>
                  </c:pt>
                  <c:pt idx="1">
                    <c:v>2%</c:v>
                  </c:pt>
                  <c:pt idx="2">
                    <c:v>5%</c:v>
                  </c:pt>
                  <c:pt idx="3">
                    <c:v>10%</c:v>
                  </c:pt>
                  <c:pt idx="4">
                    <c:v>20%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0.791</c:v>
                </c:pt>
                <c:pt idx="1">
                  <c:v>0.809</c:v>
                </c:pt>
                <c:pt idx="2">
                  <c:v>0.828</c:v>
                </c:pt>
                <c:pt idx="3">
                  <c:v>0.839</c:v>
                </c:pt>
                <c:pt idx="4">
                  <c:v>0.85</c:v>
                </c:pt>
                <c:pt idx="5">
                  <c:v>0.858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TrustRank</c:v>
                </c:pt>
              </c:strCache>
            </c:strRef>
          </c:tx>
          <c:spPr>
            <a:solidFill>
              <a:srgbClr val="9AA5AB"/>
            </a:solidFill>
            <a:ln w="31750" cap="flat">
              <a:solidFill>
                <a:srgbClr val="9AA5A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A5AB"/>
              </a:solidFill>
              <a:ln w="9525" cap="flat">
                <a:solidFill>
                  <a:srgbClr val="9AA5A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1%</c:v>
                  </c:pt>
                  <c:pt idx="1">
                    <c:v>2%</c:v>
                  </c:pt>
                  <c:pt idx="2">
                    <c:v>5%</c:v>
                  </c:pt>
                  <c:pt idx="3">
                    <c:v>10%</c:v>
                  </c:pt>
                  <c:pt idx="4">
                    <c:v>20%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0.746</c:v>
                </c:pt>
                <c:pt idx="1">
                  <c:v>0.742</c:v>
                </c:pt>
                <c:pt idx="2">
                  <c:v>0.751</c:v>
                </c:pt>
                <c:pt idx="3">
                  <c:v>0.749</c:v>
                </c:pt>
                <c:pt idx="4">
                  <c:v>0.722</c:v>
                </c:pt>
                <c:pt idx="5">
                  <c:v>0.737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Propagation only</c:v>
                </c:pt>
              </c:strCache>
            </c:strRef>
          </c:tx>
          <c:spPr>
            <a:solidFill>
              <a:srgbClr val="C8D1D5"/>
            </a:solidFill>
            <a:ln w="31750" cap="flat">
              <a:solidFill>
                <a:srgbClr val="C8D1D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D1D5"/>
              </a:solidFill>
              <a:ln w="9525" cap="flat">
                <a:solidFill>
                  <a:srgbClr val="C8D1D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1%</c:v>
                  </c:pt>
                  <c:pt idx="1">
                    <c:v>2%</c:v>
                  </c:pt>
                  <c:pt idx="2">
                    <c:v>5%</c:v>
                  </c:pt>
                  <c:pt idx="3">
                    <c:v>10%</c:v>
                  </c:pt>
                  <c:pt idx="4">
                    <c:v>20%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0.674</c:v>
                </c:pt>
                <c:pt idx="1">
                  <c:v>0.617</c:v>
                </c:pt>
                <c:pt idx="2">
                  <c:v>0.685</c:v>
                </c:pt>
                <c:pt idx="3">
                  <c:v>0.675</c:v>
                </c:pt>
                <c:pt idx="4">
                  <c:v>0.647</c:v>
                </c:pt>
                <c:pt idx="5">
                  <c:v>0.598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6EC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AUC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Trust score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0.936</c:v>
                </c:pt>
                <c:pt idx="1">
                  <c:v>0.928</c:v>
                </c:pt>
                <c:pt idx="2">
                  <c:v>0.917</c:v>
                </c:pt>
                <c:pt idx="3">
                  <c:v>0.861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E4572E"/>
            </a:solidFill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0.935</c:v>
                </c:pt>
                <c:pt idx="1">
                  <c:v>0.928</c:v>
                </c:pt>
                <c:pt idx="2">
                  <c:v>0.916</c:v>
                </c:pt>
                <c:pt idx="3">
                  <c:v>0.859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Graph conv.</c:v>
                </c:pt>
              </c:strCache>
            </c:strRef>
          </c:tx>
          <c:spPr>
            <a:solidFill>
              <a:srgbClr val="02C39A"/>
            </a:solidFill>
            <a:ln w="31750" cap="flat">
              <a:solidFill>
                <a:srgbClr val="02C3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C39A"/>
              </a:solidFill>
              <a:ln w="9525" cap="flat">
                <a:solidFill>
                  <a:srgbClr val="02C3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0.838</c:v>
                </c:pt>
                <c:pt idx="1">
                  <c:v>0.838</c:v>
                </c:pt>
                <c:pt idx="2">
                  <c:v>0.817</c:v>
                </c:pt>
                <c:pt idx="3">
                  <c:v>0.8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TrustRank</c:v>
                </c:pt>
              </c:strCache>
            </c:strRef>
          </c:tx>
          <c:spPr>
            <a:solidFill>
              <a:srgbClr val="9AA5AB"/>
            </a:solidFill>
            <a:ln w="31750" cap="flat">
              <a:solidFill>
                <a:srgbClr val="9AA5A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A5AB"/>
              </a:solidFill>
              <a:ln w="9525" cap="flat">
                <a:solidFill>
                  <a:srgbClr val="9AA5A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0.74</c:v>
                </c:pt>
                <c:pt idx="1">
                  <c:v>0.717</c:v>
                </c:pt>
                <c:pt idx="2">
                  <c:v>0.659</c:v>
                </c:pt>
                <c:pt idx="3">
                  <c:v>0.622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Propagation only</c:v>
                </c:pt>
              </c:strCache>
            </c:strRef>
          </c:tx>
          <c:spPr>
            <a:solidFill>
              <a:srgbClr val="C8D1D5"/>
            </a:solidFill>
            <a:ln w="31750" cap="flat">
              <a:solidFill>
                <a:srgbClr val="C8D1D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D1D5"/>
              </a:solidFill>
              <a:ln w="9525" cap="flat">
                <a:solidFill>
                  <a:srgbClr val="C8D1D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0.658</c:v>
                </c:pt>
                <c:pt idx="1">
                  <c:v>0.662</c:v>
                </c:pt>
                <c:pt idx="2">
                  <c:v>0.648</c:v>
                </c:pt>
                <c:pt idx="3">
                  <c:v>0.52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6EC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AUC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Trust score (ours)</c:v>
                  </c:pt>
                  <c:pt idx="1">
                    <c:v>Random Forest, profile only</c:v>
                  </c:pt>
                  <c:pt idx="2">
                    <c:v>Graph convolution</c:v>
                  </c:pt>
                  <c:pt idx="3">
                    <c:v>TrustRank</c:v>
                  </c:pt>
                  <c:pt idx="4">
                    <c:v>Propagation, no prior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0.956</c:v>
                </c:pt>
                <c:pt idx="1">
                  <c:v>0.955</c:v>
                </c:pt>
                <c:pt idx="2">
                  <c:v>0.858</c:v>
                </c:pt>
                <c:pt idx="3">
                  <c:v>0.737</c:v>
                </c:pt>
                <c:pt idx="4">
                  <c:v>0.604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network-based: Fox8 LLM botnet had near-zero recall with Botometer; PageRank and degree alone still reach F1 0.72 on LLM agents. We never read post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weights are the label homophily of each relation measured on seed-seed edges (phi coefficient), blended with a hand prior. Hub senders are damped by 1/sqrt(degree).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Weights are phi coefficients on seed-seed edges blended with a hand prior (pseudo-count 50). Values from the 12 Sept 2026 MGTAB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Baselines run alongside: Random Forest alone, propagation without the prior, hand-set weights, TrustRank minus Anti-TrustRank, and a 2-hop simplified graph convolution.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references are in trust-score-brief.md, sections 1.4 and 4.8. Trust score = Model B of the brief (linearised BP), with Model C (a classifier) used only as the prior.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the 12 Sept 2026 MGTAB run, 5-fold cross-fit. Trust score 0.956, Random Forest 0.955, SGC 0.858, TrustRank 0.737, propagation-only 0.604. Seed sweep at 1%: 0.877. Noise sweep at 30%: 0.861.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Score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the source, not the content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detectors are collapsing against LLM-written bots. Who an account is connected to is much harder to fake.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give every account a score from 0 (bot-like) to 1 (trusted) computed only from its position in the network.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3: prove it on open, labelled Twitter data before moving to Reddit and a browser overlay.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Harvard  ·  September 2026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 flipH="1">
            <a:off x="7863840" y="1005840"/>
            <a:ext cx="1188720" cy="45720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52560" y="1005840"/>
            <a:ext cx="1097280" cy="73152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0" y="1463040"/>
            <a:ext cx="640080" cy="118872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03920" y="2651760"/>
            <a:ext cx="1188720" cy="18288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9692640" y="1737360"/>
            <a:ext cx="457200" cy="109728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9692640" y="2743200"/>
            <a:ext cx="1188720" cy="9144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7680960" y="2651760"/>
            <a:ext cx="822960" cy="64008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7680960" y="1463040"/>
            <a:ext cx="182880" cy="182880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0" y="4937760"/>
            <a:ext cx="1097280" cy="45720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9326880" y="4297680"/>
            <a:ext cx="731520" cy="64008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10424160" y="4572000"/>
            <a:ext cx="640080" cy="82296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0" y="4297680"/>
            <a:ext cx="1005840" cy="27432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0" y="4297680"/>
            <a:ext cx="365760" cy="109728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8321040" y="2651760"/>
            <a:ext cx="182880" cy="155448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1040" y="4206240"/>
            <a:ext cx="1005840" cy="73152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10149840" y="1645920"/>
            <a:ext cx="1097280" cy="9144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10881360" y="1645920"/>
            <a:ext cx="365760" cy="109728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589520" y="3291840"/>
            <a:ext cx="91440" cy="173736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>
            <a:off x="7589520" y="4937760"/>
            <a:ext cx="1737360" cy="91440"/>
          </a:xfrm>
          <a:prstGeom prst="line">
            <a:avLst/>
          </a:prstGeom>
          <a:noFill/>
          <a:ln w="19050">
            <a:solidFill>
              <a:srgbClr val="3E64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92640" y="2834640"/>
            <a:ext cx="365760" cy="1463040"/>
          </a:xfrm>
          <a:prstGeom prst="line">
            <a:avLst/>
          </a:prstGeom>
          <a:noFill/>
          <a:ln w="19050">
            <a:solidFill>
              <a:srgbClr val="E4572E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7662672" y="1261872"/>
            <a:ext cx="402336" cy="40233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51392" y="804672"/>
            <a:ext cx="402336" cy="40233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948672" y="1536192"/>
            <a:ext cx="402336" cy="40233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02752" y="2450592"/>
            <a:ext cx="402336" cy="40233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491472" y="2633472"/>
            <a:ext cx="402336" cy="40233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680192" y="2542032"/>
            <a:ext cx="402336" cy="40233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79792" y="3090672"/>
            <a:ext cx="402336" cy="40233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25712" y="4736592"/>
            <a:ext cx="402336" cy="402336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222992" y="5193792"/>
            <a:ext cx="402336" cy="402336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57232" y="4096512"/>
            <a:ext cx="402336" cy="402336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863072" y="4370832"/>
            <a:ext cx="402336" cy="402336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4005072"/>
            <a:ext cx="402336" cy="402336"/>
          </a:xfrm>
          <a:prstGeom prst="ellipse">
            <a:avLst/>
          </a:prstGeom>
          <a:solidFill>
            <a:srgbClr val="9AA5A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198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1045952" y="1444752"/>
            <a:ext cx="402336" cy="402336"/>
          </a:xfrm>
          <a:prstGeom prst="ellipse">
            <a:avLst/>
          </a:prstGeom>
          <a:solidFill>
            <a:srgbClr val="9AA5A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045952" y="1444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388352" y="4828032"/>
            <a:ext cx="402336" cy="402336"/>
          </a:xfrm>
          <a:prstGeom prst="ellipse">
            <a:avLst/>
          </a:prstGeom>
          <a:solidFill>
            <a:srgbClr val="9AA5A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88352" y="4828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223760" y="5943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pPr indent="0" marL="0">
              <a:buNone/>
            </a:pPr>
            <a:r>
              <a:rPr lang="en-US" sz="11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human seed     </a:t>
            </a:r>
            <a:pPr indent="0" marL="0">
              <a:buNone/>
            </a:pPr>
            <a:r>
              <a:rPr lang="en-US" sz="11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pPr indent="0" marL="0">
              <a:buNone/>
            </a:pPr>
            <a:r>
              <a:rPr lang="en-US" sz="11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bot seed     </a:t>
            </a:r>
            <a:pPr indent="0" marL="0">
              <a:buNone/>
            </a:pPr>
            <a:r>
              <a:rPr lang="en-US" sz="1100" dirty="0">
                <a:solidFill>
                  <a:srgbClr val="9A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pPr indent="0" marL="0">
              <a:buNone/>
            </a:pPr>
            <a:r>
              <a:rPr lang="en-US" sz="11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unknown, scored by neighbours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2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trust leaks along connections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seeds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47088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humans get −½, known bots get +½. Every other account starts at a small guess from its profile.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502920" cy="5029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diffuse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72968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account averages its neighbours' values over typed edges: mutual follows, replies, mentions, quotes, shared links.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16052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off trust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498848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point is unique. Trust = ½ − residual. Because the solution is linear, every score splits exactly into prior + per-neighbour terms.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440680"/>
            <a:ext cx="5440680" cy="960120"/>
          </a:xfrm>
          <a:prstGeom prst="roundRect">
            <a:avLst>
              <a:gd name="adj" fmla="val 11429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5486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(1 − α)·q + α·P·r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seed evidence     P: weighted neighbour average     trust = ½ − r     (α = 0.8 chosen on seeds only)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0" y="2103120"/>
            <a:ext cx="1737360" cy="1463040"/>
          </a:xfrm>
          <a:prstGeom prst="line">
            <a:avLst/>
          </a:prstGeom>
          <a:noFill/>
          <a:ln w="46228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43800" y="2679192"/>
            <a:ext cx="128016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 w=0.88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H="1">
            <a:off x="9052560" y="2103120"/>
            <a:ext cx="1737360" cy="1463040"/>
          </a:xfrm>
          <a:prstGeom prst="line">
            <a:avLst/>
          </a:prstGeom>
          <a:noFill/>
          <a:ln w="37084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81160" y="2679192"/>
            <a:ext cx="128016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 w=0.64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7223760" y="3566160"/>
            <a:ext cx="1828800" cy="1463040"/>
          </a:xfrm>
          <a:prstGeom prst="line">
            <a:avLst/>
          </a:prstGeom>
          <a:noFill/>
          <a:ln w="47752">
            <a:solidFill>
              <a:srgbClr val="E457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0" y="4142232"/>
            <a:ext cx="128016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 w=0.92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52560" y="3566160"/>
            <a:ext cx="1828800" cy="1463040"/>
          </a:xfrm>
          <a:prstGeom prst="line">
            <a:avLst/>
          </a:prstGeom>
          <a:noFill/>
          <a:ln w="35941">
            <a:solidFill>
              <a:srgbClr val="E457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0" y="4142232"/>
            <a:ext cx="128016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 w=0.61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9052560" y="1463040"/>
            <a:ext cx="9144" cy="2103120"/>
          </a:xfrm>
          <a:prstGeom prst="line">
            <a:avLst/>
          </a:prstGeom>
          <a:noFill/>
          <a:ln w="46228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0" y="2359152"/>
            <a:ext cx="128016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 w=0.88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13448" y="1801368"/>
            <a:ext cx="603504" cy="603504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13448" y="18013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−½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488168" y="1801368"/>
            <a:ext cx="603504" cy="603504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488168" y="18013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−½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922008" y="4727448"/>
            <a:ext cx="603504" cy="60350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22008" y="47274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+½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579608" y="4727448"/>
            <a:ext cx="603504" cy="603504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79608" y="47274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+½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750808" y="1161288"/>
            <a:ext cx="603504" cy="603504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750808" y="11612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−½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595360" y="3108960"/>
            <a:ext cx="914400" cy="914400"/>
          </a:xfrm>
          <a:prstGeom prst="ellipse">
            <a:avLst/>
          </a:prstGeom>
          <a:solidFill>
            <a:srgbClr val="9AA5A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595360" y="3108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675120" y="5623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trusted, two bot-like neighbours. Reply and mutual-follow edges carry more weight than one-way follows, so this account lands mildly trusted: about 0.6.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2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data: MGTAB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514600" cy="1783080"/>
          </a:xfrm>
          <a:prstGeom prst="roundRect">
            <a:avLst>
              <a:gd name="adj" fmla="val 6154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10,199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every one hand-labelled by experts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463040"/>
            <a:ext cx="2514600" cy="1783080"/>
          </a:xfrm>
          <a:prstGeom prst="roundRect">
            <a:avLst>
              <a:gd name="adj" fmla="val 6154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2,748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bots (27%), 7,451 humans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2514600" cy="1783080"/>
          </a:xfrm>
          <a:prstGeom prst="roundRect">
            <a:avLst>
              <a:gd name="adj" fmla="val 6154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 M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across 7 relation types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3474720"/>
            <a:ext cx="2514600" cy="1783080"/>
          </a:xfrm>
          <a:prstGeom prst="roundRect">
            <a:avLst>
              <a:gd name="adj" fmla="val 6154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+ 24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4343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features + structural features we compute; the 768-dim text embedding is left unused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62356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(CC BY-NC-ND), GraphDetec 2023. A second dataset, cresci-2015, is used as a sanity check but is too easy: every method scores 0.999.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417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connections carry signal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homophily weight per relation (1 = endpoints always share a label, 0 = no information)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6400800" y="2194560"/>
          <a:ext cx="53035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6400800" y="58064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conversation (replies, reciprocal follows) is the strongest evidence. Sharing a hashtag says almost nothing.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2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pipeline, six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737360" cy="3291840"/>
          </a:xfrm>
          <a:prstGeom prst="roundRect">
            <a:avLst>
              <a:gd name="adj" fmla="val 6316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raw edge types become 6 relations; the follow direction is inferred from the overlap of the two follow lists.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359152" y="30632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523744" y="1691640"/>
            <a:ext cx="1737360" cy="3291840"/>
          </a:xfrm>
          <a:prstGeom prst="roundRect">
            <a:avLst>
              <a:gd name="adj" fmla="val 6316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06624" y="187452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06624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06624" y="24688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706624" y="306324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numbers per account: degrees, reciprocity, PageRank, clustering, plus the 20 profile fields.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242816" y="30632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407408" y="1691640"/>
            <a:ext cx="1737360" cy="3291840"/>
          </a:xfrm>
          <a:prstGeom prst="roundRect">
            <a:avLst>
              <a:gd name="adj" fmla="val 6316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90288" y="187452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90288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90288" y="24688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prior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90288" y="306324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Forest on those features gives a first P(bot). It is softened to ±¼ so it never outweighs a seed.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30632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91072" y="1691640"/>
            <a:ext cx="1737360" cy="3291840"/>
          </a:xfrm>
          <a:prstGeom prst="roundRect">
            <a:avLst>
              <a:gd name="adj" fmla="val 6316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187452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73952" y="24688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73952" y="306324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relation gets a weight from how often seed-to-seed edges join same-label accounts.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010144" y="30632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174736" y="1691640"/>
            <a:ext cx="1737360" cy="3291840"/>
          </a:xfrm>
          <a:prstGeom prst="roundRect">
            <a:avLst>
              <a:gd name="adj" fmla="val 6316"/>
            </a:avLst>
          </a:prstGeom>
          <a:solidFill>
            <a:srgbClr val="0B2F3A"/>
          </a:solidFill>
          <a:ln w="12700">
            <a:solidFill>
              <a:srgbClr val="0B2F3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57616" y="1874520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57616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357616" y="24688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357616" y="306324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r = (1−α)q + αPr. Converges in 54 iterations. α and the prior strength are picked by cross-validation on seeds.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893808" y="30632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10058400" y="1691640"/>
            <a:ext cx="1737360" cy="3291840"/>
          </a:xfrm>
          <a:prstGeom prst="roundRect">
            <a:avLst>
              <a:gd name="adj" fmla="val 6316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241280" y="187452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2412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24688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&amp; explain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0" y="306324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fit maps r to P(bot). Each score is decomposed into prior, per-relation and per-neighbour terms for the dashboard.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2578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evaluation: 5-fold cross-fitting, so every account is scored by a model that never saw its label. Then two stress tests: fewer seeds (1% to 50%) and wrong seeds (0% to 30% flipped).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served by a FastAPI backend to a React dashboard: network explorer, per-account explanation card, communities and dense co-following blocks.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 1: every account starts with a prior q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is one number per account. Positive means evidence of bot, negative means evidence of human.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67512" y="1673352"/>
            <a:ext cx="768096" cy="768096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91640" y="1645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bot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11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seed. Fixed, never changes during propagation.</a:t>
            </a:r>
            <a:endParaRPr lang="en-US" sz="1100" dirty="0"/>
          </a:p>
        </p:txBody>
      </p:sp>
      <p:pic>
        <p:nvPicPr>
          <p:cNvPr id="7" name="Image 0" descr="eq/q_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828800"/>
            <a:ext cx="1234440" cy="5568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67512" y="3090672"/>
            <a:ext cx="768096" cy="768096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91640" y="3063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human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34290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seed. Fixed, never changes during propagation.</a:t>
            </a:r>
            <a:endParaRPr lang="en-US" sz="1100" dirty="0"/>
          </a:p>
        </p:txBody>
      </p:sp>
      <p:pic>
        <p:nvPicPr>
          <p:cNvPr id="11" name="Image 1" descr="eq/q_h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246120"/>
            <a:ext cx="1234440" cy="55682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67512" y="4507992"/>
            <a:ext cx="768096" cy="768096"/>
          </a:xfrm>
          <a:prstGeom prst="ellipse">
            <a:avLst/>
          </a:prstGeom>
          <a:solidFill>
            <a:srgbClr val="9AA5A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7512" y="450799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691640" y="4480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else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691640" y="4846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 guess from the Random Forest on profile and structure. λ = 0.5 keeps it within ±¼, so a guess can never outweigh a real label.</a:t>
            </a:r>
            <a:endParaRPr lang="en-US" sz="1100" dirty="0"/>
          </a:p>
        </p:txBody>
      </p:sp>
      <p:pic>
        <p:nvPicPr>
          <p:cNvPr id="16" name="Image 2" descr="eq/q_u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663440"/>
            <a:ext cx="3931920" cy="49586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41832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vector q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418320" y="2057400"/>
            <a:ext cx="1463040" cy="402336"/>
          </a:xfrm>
          <a:prstGeom prst="rect">
            <a:avLst/>
          </a:prstGeom>
          <a:solidFill>
            <a:srgbClr val="E457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9418320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+½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10927080" y="20574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acct 0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9418320" y="2514600"/>
            <a:ext cx="1463040" cy="402336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418320" y="25146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−½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10927080" y="25146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acct 1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9418320" y="2971800"/>
            <a:ext cx="1463040" cy="402336"/>
          </a:xfrm>
          <a:prstGeom prst="rect">
            <a:avLst/>
          </a:prstGeom>
          <a:solidFill>
            <a:srgbClr val="EEF2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418320" y="29718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+0.12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10927080" y="29718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acct 2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9418320" y="3429000"/>
            <a:ext cx="1463040" cy="402336"/>
          </a:xfrm>
          <a:prstGeom prst="rect">
            <a:avLst/>
          </a:prstGeom>
          <a:solidFill>
            <a:srgbClr val="EEF2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9418320" y="34290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−0.20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10927080" y="34290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acct 3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9418320" y="3886200"/>
            <a:ext cx="1463040" cy="402336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418320" y="38862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−½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10927080" y="38862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acct 4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9418320" y="4343400"/>
            <a:ext cx="1463040" cy="402336"/>
          </a:xfrm>
          <a:prstGeom prst="rect">
            <a:avLst/>
          </a:prstGeom>
          <a:solidFill>
            <a:srgbClr val="EEF2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9418320" y="4343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+0.05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10927080" y="43434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acct 5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9418320" y="4800600"/>
            <a:ext cx="1463040" cy="402336"/>
          </a:xfrm>
          <a:prstGeom prst="rect">
            <a:avLst/>
          </a:prstGeom>
          <a:solidFill>
            <a:srgbClr val="E457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9418320" y="48006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+½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10927080" y="48006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acct 6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9418320" y="5257800"/>
            <a:ext cx="1463040" cy="402336"/>
          </a:xfrm>
          <a:prstGeom prst="rect">
            <a:avLst/>
          </a:prstGeom>
          <a:solidFill>
            <a:srgbClr val="EEF2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9418320" y="52578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1300" dirty="0"/>
          </a:p>
        </p:txBody>
      </p:sp>
      <p:sp>
        <p:nvSpPr>
          <p:cNvPr id="41" name="Text 36"/>
          <p:cNvSpPr txBox="1"/>
          <p:nvPr/>
        </p:nvSpPr>
        <p:spPr>
          <a:xfrm>
            <a:off x="10927080" y="52578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acct 7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9418320" y="5806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10,199 entries on MGTAB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 2: connections become a matrix 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P[v,u] is how much account v listens to account u. Each row is a weighted average over v's neighbours.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 flipH="1">
            <a:off x="1188720" y="1920240"/>
            <a:ext cx="1645920" cy="365760"/>
          </a:xfrm>
          <a:prstGeom prst="line">
            <a:avLst/>
          </a:prstGeom>
          <a:noFill/>
          <a:ln w="381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00200" y="1965960"/>
            <a:ext cx="82296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188720" y="2286000"/>
            <a:ext cx="274320" cy="1645920"/>
          </a:xfrm>
          <a:prstGeom prst="line">
            <a:avLst/>
          </a:prstGeom>
          <a:noFill/>
          <a:ln w="40640">
            <a:solidFill>
              <a:srgbClr val="02809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971800"/>
            <a:ext cx="82296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834640" y="1920240"/>
            <a:ext cx="274320" cy="1828800"/>
          </a:xfrm>
          <a:prstGeom prst="line">
            <a:avLst/>
          </a:prstGeom>
          <a:noFill/>
          <a:ln w="20320">
            <a:solidFill>
              <a:srgbClr val="9AA5A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2697480"/>
            <a:ext cx="82296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 flipH="1">
            <a:off x="1463040" y="3749040"/>
            <a:ext cx="1645920" cy="182880"/>
          </a:xfrm>
          <a:prstGeom prst="line">
            <a:avLst/>
          </a:prstGeom>
          <a:noFill/>
          <a:ln w="25400">
            <a:solidFill>
              <a:srgbClr val="9AA5A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74520" y="3703320"/>
            <a:ext cx="82296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32688" y="2029968"/>
            <a:ext cx="512064" cy="512064"/>
          </a:xfrm>
          <a:prstGeom prst="ellipse">
            <a:avLst/>
          </a:prstGeom>
          <a:solidFill>
            <a:srgbClr val="0B2F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78608" y="1664208"/>
            <a:ext cx="512064" cy="512064"/>
          </a:xfrm>
          <a:prstGeom prst="ellipse">
            <a:avLst/>
          </a:prstGeom>
          <a:solidFill>
            <a:srgbClr val="0B2F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78608" y="16642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207008" y="3675888"/>
            <a:ext cx="512064" cy="512064"/>
          </a:xfrm>
          <a:prstGeom prst="ellipse">
            <a:avLst/>
          </a:prstGeom>
          <a:solidFill>
            <a:srgbClr val="0B2F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07008" y="36758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52928" y="3493008"/>
            <a:ext cx="512064" cy="512064"/>
          </a:xfrm>
          <a:prstGeom prst="ellipse">
            <a:avLst/>
          </a:prstGeom>
          <a:solidFill>
            <a:srgbClr val="0B2F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52928" y="34930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accounts, 4 typed edges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A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192024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16276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89120" y="1920240"/>
            <a:ext cx="566928" cy="566928"/>
          </a:xfrm>
          <a:prstGeom prst="rect">
            <a:avLst/>
          </a:prstGeom>
          <a:solidFill>
            <a:srgbClr val="F4F7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56048" y="1920240"/>
            <a:ext cx="566928" cy="566928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56048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522976" y="1920240"/>
            <a:ext cx="566928" cy="566928"/>
          </a:xfrm>
          <a:prstGeom prst="rect">
            <a:avLst/>
          </a:prstGeom>
          <a:solidFill>
            <a:srgbClr val="7FC4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22976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1920240"/>
            <a:ext cx="566928" cy="566928"/>
          </a:xfrm>
          <a:prstGeom prst="rect">
            <a:avLst/>
          </a:prstGeom>
          <a:solidFill>
            <a:srgbClr val="F4F7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89904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069080" y="248716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956048" y="16276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89120" y="2487168"/>
            <a:ext cx="566928" cy="566928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389120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956048" y="2487168"/>
            <a:ext cx="566928" cy="566928"/>
          </a:xfrm>
          <a:prstGeom prst="rect">
            <a:avLst/>
          </a:prstGeom>
          <a:solidFill>
            <a:srgbClr val="F4F7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956048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522976" y="2487168"/>
            <a:ext cx="566928" cy="566928"/>
          </a:xfrm>
          <a:prstGeom prst="rect">
            <a:avLst/>
          </a:prstGeom>
          <a:solidFill>
            <a:srgbClr val="F4F7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522976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89904" y="2487168"/>
            <a:ext cx="566928" cy="566928"/>
          </a:xfrm>
          <a:prstGeom prst="rect">
            <a:avLst/>
          </a:prstGeom>
          <a:solidFill>
            <a:srgbClr val="7FC4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089904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069080" y="3054096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22976" y="16276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389120" y="3054096"/>
            <a:ext cx="566928" cy="566928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389120" y="30540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956048" y="3054096"/>
            <a:ext cx="566928" cy="566928"/>
          </a:xfrm>
          <a:prstGeom prst="rect">
            <a:avLst/>
          </a:prstGeom>
          <a:solidFill>
            <a:srgbClr val="F4F7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956048" y="30540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522976" y="3054096"/>
            <a:ext cx="566928" cy="566928"/>
          </a:xfrm>
          <a:prstGeom prst="rect">
            <a:avLst/>
          </a:prstGeom>
          <a:solidFill>
            <a:srgbClr val="F4F7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522976" y="30540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089904" y="3054096"/>
            <a:ext cx="566928" cy="566928"/>
          </a:xfrm>
          <a:prstGeom prst="rect">
            <a:avLst/>
          </a:prstGeom>
          <a:solidFill>
            <a:srgbClr val="7FC4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089904" y="30540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0.38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4069080" y="3621024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089904" y="16276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89120" y="3621024"/>
            <a:ext cx="566928" cy="566928"/>
          </a:xfrm>
          <a:prstGeom prst="rect">
            <a:avLst/>
          </a:prstGeom>
          <a:solidFill>
            <a:srgbClr val="F4F7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389120" y="36210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956048" y="3621024"/>
            <a:ext cx="566928" cy="566928"/>
          </a:xfrm>
          <a:prstGeom prst="rect">
            <a:avLst/>
          </a:prstGeom>
          <a:solidFill>
            <a:srgbClr val="7FC4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956048" y="36210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522976" y="3621024"/>
            <a:ext cx="566928" cy="566928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522976" y="36210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089904" y="3621024"/>
            <a:ext cx="566928" cy="566928"/>
          </a:xfrm>
          <a:prstGeom prst="rect">
            <a:avLst/>
          </a:prstGeom>
          <a:solidFill>
            <a:srgbClr val="F4F7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089904" y="36210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4023360" y="4343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P: rows sum to 1. Row 0 listens 54% to account 1 (mutual follow) and 46% to account 2 (reply).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7589520" y="1554480"/>
            <a:ext cx="4114800" cy="1371600"/>
          </a:xfrm>
          <a:prstGeom prst="roundRect">
            <a:avLst>
              <a:gd name="adj" fmla="val 6667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26680" y="1664208"/>
            <a:ext cx="329184" cy="32918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2668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8138160" y="1645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 the hubs</a:t>
            </a:r>
            <a:endParaRPr lang="en-US" sz="1300" dirty="0"/>
          </a:p>
        </p:txBody>
      </p:sp>
      <p:pic>
        <p:nvPicPr>
          <p:cNvPr id="67" name="Image 0" descr="eq/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011680"/>
            <a:ext cx="2011680" cy="581244"/>
          </a:xfrm>
          <a:prstGeom prst="rect">
            <a:avLst/>
          </a:prstGeom>
        </p:spPr>
      </p:pic>
      <p:sp>
        <p:nvSpPr>
          <p:cNvPr id="68" name="Text 65"/>
          <p:cNvSpPr txBox="1"/>
          <p:nvPr/>
        </p:nvSpPr>
        <p:spPr>
          <a:xfrm>
            <a:off x="7772400" y="2638644"/>
            <a:ext cx="3840480" cy="241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account followed by thousands passes on only 1/√degree of its value to each.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7589520" y="306324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7726680" y="3172968"/>
            <a:ext cx="329184" cy="32918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72668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2" name="Text 69"/>
          <p:cNvSpPr txBox="1"/>
          <p:nvPr/>
        </p:nvSpPr>
        <p:spPr>
          <a:xfrm>
            <a:off x="8138160" y="3154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each relation</a:t>
            </a:r>
            <a:endParaRPr lang="en-US" sz="1300" dirty="0"/>
          </a:p>
        </p:txBody>
      </p:sp>
      <p:pic>
        <p:nvPicPr>
          <p:cNvPr id="73" name="Image 1" descr="eq/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520440"/>
            <a:ext cx="2743200" cy="517104"/>
          </a:xfrm>
          <a:prstGeom prst="rect">
            <a:avLst/>
          </a:prstGeom>
        </p:spPr>
      </p:pic>
      <p:sp>
        <p:nvSpPr>
          <p:cNvPr id="74" name="Text 70"/>
          <p:cNvSpPr txBox="1"/>
          <p:nvPr/>
        </p:nvSpPr>
        <p:spPr>
          <a:xfrm>
            <a:off x="7772400" y="4083264"/>
            <a:ext cx="3840480" cy="625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label correlation on seed–seed edges (replies 0.92, hashtags 0.12). The 50 pulls sparse channels toward the hand prior.</a:t>
            </a:r>
            <a:endParaRPr lang="en-US" sz="950" dirty="0"/>
          </a:p>
        </p:txBody>
      </p:sp>
      <p:sp>
        <p:nvSpPr>
          <p:cNvPr id="75" name="Shape 71"/>
          <p:cNvSpPr/>
          <p:nvPr/>
        </p:nvSpPr>
        <p:spPr>
          <a:xfrm>
            <a:off x="7589520" y="4892040"/>
            <a:ext cx="4114800" cy="1371600"/>
          </a:xfrm>
          <a:prstGeom prst="roundRect">
            <a:avLst>
              <a:gd name="adj" fmla="val 6667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7726680" y="5001768"/>
            <a:ext cx="329184" cy="32918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7726680" y="5001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78" name="Text 74"/>
          <p:cNvSpPr txBox="1"/>
          <p:nvPr/>
        </p:nvSpPr>
        <p:spPr>
          <a:xfrm>
            <a:off x="8138160" y="4983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over neighbours</a:t>
            </a:r>
            <a:endParaRPr lang="en-US" sz="1300" dirty="0"/>
          </a:p>
        </p:txBody>
      </p:sp>
      <p:pic>
        <p:nvPicPr>
          <p:cNvPr id="79" name="Image 2" descr="eq/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5349240"/>
            <a:ext cx="4023360" cy="498780"/>
          </a:xfrm>
          <a:prstGeom prst="rect">
            <a:avLst/>
          </a:prstGeom>
        </p:spPr>
      </p:pic>
      <p:sp>
        <p:nvSpPr>
          <p:cNvPr id="80" name="Text 75"/>
          <p:cNvSpPr txBox="1"/>
          <p:nvPr/>
        </p:nvSpPr>
        <p:spPr>
          <a:xfrm>
            <a:off x="7772400" y="5893740"/>
            <a:ext cx="3840480" cy="324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the weighted channels and divide by the total incoming weight 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 3: the trust score, and why this form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109270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eq/f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1280160"/>
            <a:ext cx="7772400" cy="10790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94560" y="2450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(1−α) = 20% of your own prior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45059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α = 80% from your neighbours' average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1546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Unrolled, the solution is a sum over hops, each discounted by α again.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611880"/>
            <a:ext cx="731520" cy="914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eq/hop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833726"/>
            <a:ext cx="274320" cy="4707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4572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itself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379476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1554480" y="3611880"/>
            <a:ext cx="1097280" cy="914400"/>
          </a:xfrm>
          <a:prstGeom prst="roundRect">
            <a:avLst>
              <a:gd name="adj" fmla="val 10000"/>
            </a:avLst>
          </a:prstGeom>
          <a:solidFill>
            <a:srgbClr val="DDE9EC"/>
          </a:solidFill>
          <a:ln w="12700">
            <a:solidFill>
              <a:srgbClr val="DDE9EC"/>
            </a:solidFill>
            <a:prstDash val="solid"/>
          </a:ln>
        </p:spPr>
      </p:sp>
      <p:pic>
        <p:nvPicPr>
          <p:cNvPr id="13" name="Image 2" descr="eq/hop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3819548"/>
            <a:ext cx="822960" cy="4990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5448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hop away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379476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2834640" y="361188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9FBFC6"/>
          </a:solidFill>
          <a:ln w="12700">
            <a:solidFill>
              <a:srgbClr val="9FBFC6"/>
            </a:solidFill>
            <a:prstDash val="solid"/>
          </a:ln>
        </p:spPr>
      </p:sp>
      <p:pic>
        <p:nvPicPr>
          <p:cNvPr id="17" name="Image 3" descr="eq/hop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3849893"/>
            <a:ext cx="1005840" cy="43837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834640" y="4572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hops away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4114800" y="379476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297680" y="361188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5F8F99"/>
          </a:solidFill>
          <a:ln w="12700">
            <a:solidFill>
              <a:srgbClr val="5F8F99"/>
            </a:solidFill>
            <a:prstDash val="solid"/>
          </a:ln>
        </p:spPr>
      </p:sp>
      <p:pic>
        <p:nvPicPr>
          <p:cNvPr id="21" name="Image 4" descr="eq/hop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3894415"/>
            <a:ext cx="1097280" cy="349329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297680" y="4572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hops and beyond</a:t>
            </a:r>
            <a:endParaRPr lang="en-US" sz="1000" dirty="0"/>
          </a:p>
        </p:txBody>
      </p:sp>
      <p:pic>
        <p:nvPicPr>
          <p:cNvPr id="23" name="Image 5" descr="eq/sol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029200"/>
            <a:ext cx="5394960" cy="694713"/>
          </a:xfrm>
          <a:prstGeom prst="rect">
            <a:avLst/>
          </a:prstGeom>
        </p:spPr>
      </p:pic>
      <p:pic>
        <p:nvPicPr>
          <p:cNvPr id="24" name="Image 6" descr="eq/trust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806440"/>
            <a:ext cx="5394960" cy="383581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400800" y="3154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form: the sources behind the choice</a:t>
            </a:r>
            <a:endParaRPr lang="en-US" sz="1400" dirty="0"/>
          </a:p>
        </p:txBody>
      </p:sp>
      <p:sp>
        <p:nvSpPr>
          <p:cNvPr id="26" name="Shape 17"/>
          <p:cNvSpPr/>
          <p:nvPr/>
        </p:nvSpPr>
        <p:spPr>
          <a:xfrm>
            <a:off x="6400800" y="3584448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Text 18"/>
          <p:cNvSpPr txBox="1"/>
          <p:nvPr/>
        </p:nvSpPr>
        <p:spPr>
          <a:xfrm>
            <a:off x="6400800" y="35844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6766560" y="35661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SybilSCAR, Wang et al., INFOCOM 2017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Linearised belief propagation with both trust and distrust seeds. Converges when the spectral radius is below 1, one sparse pass per iteration. Our core.</a:t>
            </a:r>
            <a:endParaRPr lang="en-US" sz="900" dirty="0"/>
          </a:p>
        </p:txBody>
      </p:sp>
      <p:sp>
        <p:nvSpPr>
          <p:cNvPr id="29" name="Shape 20"/>
          <p:cNvSpPr/>
          <p:nvPr/>
        </p:nvSpPr>
        <p:spPr>
          <a:xfrm>
            <a:off x="6400800" y="4169664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6400800" y="4169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1" name="Text 22"/>
          <p:cNvSpPr txBox="1"/>
          <p:nvPr/>
        </p:nvSpPr>
        <p:spPr>
          <a:xfrm>
            <a:off x="6766560" y="41513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GANG, Wang et al., ICDM 2017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on directed graphs: evidence flows differently along each edge direction. Our follow_in / follow_out channels.</a:t>
            </a:r>
            <a:endParaRPr lang="en-US" sz="900" dirty="0"/>
          </a:p>
        </p:txBody>
      </p:sp>
      <p:sp>
        <p:nvSpPr>
          <p:cNvPr id="32" name="Shape 23"/>
          <p:cNvSpPr/>
          <p:nvPr/>
        </p:nvSpPr>
        <p:spPr>
          <a:xfrm>
            <a:off x="6400800" y="4754880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400800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6766560" y="473659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SybilRank, NSDI 2012 · TrustRank, VLDB 2004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random walks with a provable bound of O(g·log n) misplaced Sybils. Our α-damped form is this family; α is the restart.</a:t>
            </a:r>
            <a:endParaRPr lang="en-US" sz="900" dirty="0"/>
          </a:p>
        </p:txBody>
      </p:sp>
      <p:sp>
        <p:nvSpPr>
          <p:cNvPr id="35" name="Shape 26"/>
          <p:cNvSpPr/>
          <p:nvPr/>
        </p:nvSpPr>
        <p:spPr>
          <a:xfrm>
            <a:off x="6400800" y="5340096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6400800" y="5340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Text 28"/>
          <p:cNvSpPr txBox="1"/>
          <p:nvPr/>
        </p:nvSpPr>
        <p:spPr>
          <a:xfrm>
            <a:off x="6766560" y="53218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&amp; Smooth, ICLR 2021 · APPNP, ICLR 2019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Propagate a base classifier's output with (I − αP)⁻¹. That is where the Random Forest prior plugs in.</a:t>
            </a:r>
            <a:endParaRPr lang="en-US" sz="900" dirty="0"/>
          </a:p>
        </p:txBody>
      </p:sp>
      <p:sp>
        <p:nvSpPr>
          <p:cNvPr id="38" name="Shape 29"/>
          <p:cNvSpPr/>
          <p:nvPr/>
        </p:nvSpPr>
        <p:spPr>
          <a:xfrm>
            <a:off x="6400800" y="5925312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6400800" y="5925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0" name="Text 31"/>
          <p:cNvSpPr txBox="1"/>
          <p:nvPr/>
        </p:nvSpPr>
        <p:spPr>
          <a:xfrm>
            <a:off x="6766560" y="590702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Alvisi et al., SoK, IEEE S&amp;P 2013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Sybil defence is ranking by seeded propagation, and needs defence in depth: structure plus a behavioural prior.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baselines we compare against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seeds, same cross-fitting, different formula.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37360"/>
            <a:ext cx="365760" cy="3657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Forest, profile only</a:t>
            </a:r>
            <a:endParaRPr lang="en-US" sz="1500" dirty="0"/>
          </a:p>
        </p:txBody>
      </p:sp>
      <p:pic>
        <p:nvPicPr>
          <p:cNvPr id="8" name="Image 0" descr="eq/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86000"/>
            <a:ext cx="4480560" cy="9081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3331296"/>
            <a:ext cx="4937760" cy="280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graph at all. 500 trees on 44 numbers per account.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46520" y="1737360"/>
            <a:ext cx="365760" cy="3657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only</a:t>
            </a:r>
            <a:endParaRPr lang="en-US" sz="1500" dirty="0"/>
          </a:p>
        </p:txBody>
      </p:sp>
      <p:pic>
        <p:nvPicPr>
          <p:cNvPr id="14" name="Image 1" descr="eq/p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86000"/>
            <a:ext cx="3657600" cy="568171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537960" y="2991331"/>
            <a:ext cx="4937760" cy="62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formula with the Random Forest switched off. Only the ±½ seeds spread.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393192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114800"/>
            <a:ext cx="365760" cy="365760"/>
          </a:xfrm>
          <a:prstGeom prst="ellipse">
            <a:avLst/>
          </a:prstGeom>
          <a:solidFill>
            <a:srgbClr val="9AA5AB"/>
          </a:solidFill>
          <a:ln w="12700">
            <a:solidFill>
              <a:srgbClr val="9AA5A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1325880" y="4114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TrustRank − Anti-TrustRank</a:t>
            </a:r>
            <a:endParaRPr lang="en-US" sz="1500" dirty="0"/>
          </a:p>
        </p:txBody>
      </p:sp>
      <p:pic>
        <p:nvPicPr>
          <p:cNvPr id="20" name="Image 2" descr="eq/t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63440"/>
            <a:ext cx="4754880" cy="49610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" y="5296709"/>
            <a:ext cx="4937760" cy="692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random walks with restart: trust from human seeds along follows, distrust from bot seeds against follows. β = 0.85, degree-normalised.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263640" y="393192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E6F2F4"/>
          </a:solidFill>
          <a:ln w="12700">
            <a:solidFill>
              <a:srgbClr val="E6F2F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446520" y="4114800"/>
            <a:ext cx="365760" cy="365760"/>
          </a:xfrm>
          <a:prstGeom prst="ellipse">
            <a:avLst/>
          </a:prstGeom>
          <a:solidFill>
            <a:srgbClr val="9AA5AB"/>
          </a:solidFill>
          <a:ln w="12700">
            <a:solidFill>
              <a:srgbClr val="9AA5AB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6949440" y="4114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graph convolution</a:t>
            </a:r>
            <a:endParaRPr lang="en-US" sz="1500" dirty="0"/>
          </a:p>
        </p:txBody>
      </p:sp>
      <p:pic>
        <p:nvPicPr>
          <p:cNvPr id="26" name="Image 3" descr="eq/sg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663440"/>
            <a:ext cx="4754880" cy="31699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37960" y="5117592"/>
            <a:ext cx="493776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the features twice over the graph, then a logistic regression.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MGTAB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cross-fit: every account is scored by a model that never saw its label.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5394960" cy="1828800"/>
        </p:xfrm>
        <a:graphic>
          <a:graphicData uri="http://schemas.openxmlformats.org/drawingml/2006/table">
            <a:tbl>
              <a:tblPr/>
              <a:tblGrid>
                <a:gridCol w="2103120"/>
                <a:gridCol w="658368"/>
                <a:gridCol w="658368"/>
                <a:gridCol w="658368"/>
                <a:gridCol w="658368"/>
                <a:gridCol w="65836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score (ours)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Propagation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2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35661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F1, precision and recall at P(bot) &gt; 0.5 after Platt calibration.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02336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it. </a:t>
            </a:r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alone (propagation only) is weak on MGTAB: bots here mostly connect to humans. Combined with the profile prior it equals the Random Forest on AUC, and adds what the forest cannot give: robustness with few labels and an exact explanation per account.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554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curve: bots caught vs humans wrongly flagged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1874520"/>
          <a:ext cx="53035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Robustness: fewer labels, wrong labels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on held-out accounts, averaged over 5 random seed draws.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labels used as seeds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87452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7607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1% of labels (about 100 accounts) the trust score already reaches 0.88.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5544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seed labels deliberately flipped</a:t>
            </a:r>
            <a:endParaRPr lang="en-US" sz="14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400800" y="187452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0" y="57607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30% of the seeds mislabelled, AUC stays at 0.86. TrustRank and pure propagation collapse.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are, and what comes next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on MGTAB: probability a random bot ranks below a random human (0.5 = coin flip)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5943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040880" y="160020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16414D"/>
          </a:solidFill>
          <a:ln w="12700">
            <a:solidFill>
              <a:srgbClr val="1641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23760" y="17373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0.88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223760" y="2514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with only 1% of labels as seeds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509760" y="160020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16414D"/>
          </a:solidFill>
          <a:ln w="12700">
            <a:solidFill>
              <a:srgbClr val="1641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92640" y="17373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0.86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692640" y="2514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with 30% of seed labels deliberately wrong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040880" y="36118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reading: the graph adds little over a good profile model on this dataset. The value is robustness to few and noisy labels, and explanations that a profile model cannot give.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following the research brief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40080" y="5394960"/>
            <a:ext cx="384048" cy="384048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5394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5376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layer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56875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detected clusters as an edge type and a distrust prior, not just a display.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34840" y="5394960"/>
            <a:ext cx="384048" cy="384048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434840" y="5394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37760" y="5376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937760" y="56875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'unknown' for accounts with little evidence instead of 'trusted'.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229600" y="5394960"/>
            <a:ext cx="384048" cy="384048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0" y="5394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732520" y="5376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data, then Reddit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732520" y="56875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TwiBot-22 benchmark, synthetic Sybil attacks, then the Reddit reply graph.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2026-09-12T23:49:22Z</dcterms:created>
  <dcterms:modified xsi:type="dcterms:W3CDTF">2026-09-12T23:49:22Z</dcterms:modified>
</cp:coreProperties>
</file>